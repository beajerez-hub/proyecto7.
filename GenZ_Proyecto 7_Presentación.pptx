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70" r:id="rId11"/>
    <p:sldId id="265" r:id="rId12"/>
    <p:sldId id="266" r:id="rId13"/>
    <p:sldId id="267" r:id="rId14"/>
    <p:sldId id="268" r:id="rId15"/>
    <p:sldId id="269" r:id="rId16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6FF66"/>
    <a:srgbClr val="33CC3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191" autoAdjust="0"/>
    <p:restoredTop sz="94610"/>
  </p:normalViewPr>
  <p:slideViewPr>
    <p:cSldViewPr snapToGrid="0" snapToObjects="1">
      <p:cViewPr varScale="1">
        <p:scale>
          <a:sx n="110" d="100"/>
          <a:sy n="110" d="100"/>
        </p:scale>
        <p:origin x="725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Beatriz Jerez Izquierdo" userId="32242560-85a4-47b6-8b98-ce5058c1e9dd" providerId="ADAL" clId="{5F42450F-141E-4C37-B425-7BF1BD766F5E}"/>
    <pc:docChg chg="modSld">
      <pc:chgData name="Beatriz Jerez Izquierdo" userId="32242560-85a4-47b6-8b98-ce5058c1e9dd" providerId="ADAL" clId="{5F42450F-141E-4C37-B425-7BF1BD766F5E}" dt="2026-02-22T03:12:43.833" v="20" actId="20577"/>
      <pc:docMkLst>
        <pc:docMk/>
      </pc:docMkLst>
      <pc:sldChg chg="modSp mod">
        <pc:chgData name="Beatriz Jerez Izquierdo" userId="32242560-85a4-47b6-8b98-ce5058c1e9dd" providerId="ADAL" clId="{5F42450F-141E-4C37-B425-7BF1BD766F5E}" dt="2026-02-22T03:12:43.833" v="20" actId="20577"/>
        <pc:sldMkLst>
          <pc:docMk/>
          <pc:sldMk cId="0" sldId="256"/>
        </pc:sldMkLst>
        <pc:spChg chg="mod">
          <ac:chgData name="Beatriz Jerez Izquierdo" userId="32242560-85a4-47b6-8b98-ce5058c1e9dd" providerId="ADAL" clId="{5F42450F-141E-4C37-B425-7BF1BD766F5E}" dt="2026-02-22T03:12:43.833" v="20" actId="20577"/>
          <ac:spMkLst>
            <pc:docMk/>
            <pc:sldMk cId="0" sldId="256"/>
            <ac:spMk id="11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973268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912791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7" Type="http://schemas.openxmlformats.org/officeDocument/2006/relationships/image" Target="../media/image6.sv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sv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303520" cy="51435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CL" dirty="0"/>
          </a:p>
        </p:txBody>
      </p:sp>
      <p:sp>
        <p:nvSpPr>
          <p:cNvPr id="3" name="Shape 1"/>
          <p:cNvSpPr/>
          <p:nvPr/>
        </p:nvSpPr>
        <p:spPr>
          <a:xfrm>
            <a:off x="5468112" y="0"/>
            <a:ext cx="3675888" cy="5143500"/>
          </a:xfrm>
          <a:prstGeom prst="rect">
            <a:avLst/>
          </a:prstGeom>
          <a:solidFill>
            <a:srgbClr val="1A2332"/>
          </a:solidFill>
          <a:ln w="12700">
            <a:solidFill>
              <a:srgbClr val="1A2332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7BC043"/>
          </a:solidFill>
          <a:ln w="12700">
            <a:solidFill>
              <a:srgbClr val="7BC043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5" name="Text 3"/>
          <p:cNvSpPr/>
          <p:nvPr/>
        </p:nvSpPr>
        <p:spPr>
          <a:xfrm>
            <a:off x="228600" y="256032"/>
            <a:ext cx="4846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200" dirty="0">
                <a:solidFill>
                  <a:srgbClr val="7BC043"/>
                </a:solidFill>
              </a:rPr>
              <a:t>BOOTCAMP CIENCIA DE DATOS E IA — PROYECTO 7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228600" y="502920"/>
            <a:ext cx="4846320" cy="2834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40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Predicción de</a:t>
            </a:r>
            <a:endParaRPr lang="en-US" sz="4000" dirty="0"/>
          </a:p>
          <a:p>
            <a:pPr marL="0" indent="0">
              <a:buNone/>
            </a:pPr>
            <a:r>
              <a:rPr lang="en-US" sz="40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Carreras</a:t>
            </a:r>
            <a:endParaRPr lang="en-US" sz="4000" dirty="0"/>
          </a:p>
          <a:p>
            <a:pPr marL="0" indent="0">
              <a:buNone/>
            </a:pPr>
            <a:r>
              <a:rPr lang="en-US" sz="4000" b="1" dirty="0" err="1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Aspiracionales</a:t>
            </a:r>
            <a:endParaRPr lang="en-US" sz="4000" dirty="0"/>
          </a:p>
          <a:p>
            <a:pPr marL="0" indent="0">
              <a:buNone/>
            </a:pPr>
            <a:r>
              <a:rPr lang="en-US" sz="40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Gen Z</a:t>
            </a:r>
            <a:endParaRPr lang="en-US" sz="4000" dirty="0"/>
          </a:p>
        </p:txBody>
      </p:sp>
      <p:sp>
        <p:nvSpPr>
          <p:cNvPr id="8" name="Text 6"/>
          <p:cNvSpPr/>
          <p:nvPr/>
        </p:nvSpPr>
        <p:spPr>
          <a:xfrm>
            <a:off x="228600" y="3456432"/>
            <a:ext cx="4846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solución de inteligencia artificial para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orientar talento joven basada en datos de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encuestas y preferencias personales.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2103120" y="4681728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📅  21 de Febrero, 2026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3749040" y="4681728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M. Beatriz Jerez I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603367" y="3337560"/>
            <a:ext cx="3108960" cy="1371600"/>
          </a:xfrm>
          <a:prstGeom prst="rect">
            <a:avLst/>
          </a:prstGeom>
          <a:solidFill>
            <a:srgbClr val="253545"/>
          </a:solidFill>
          <a:ln w="12700">
            <a:solidFill>
              <a:srgbClr val="253545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3" name="Shape 11"/>
          <p:cNvSpPr/>
          <p:nvPr/>
        </p:nvSpPr>
        <p:spPr>
          <a:xfrm>
            <a:off x="5550789" y="3337560"/>
            <a:ext cx="45720" cy="1371600"/>
          </a:xfrm>
          <a:prstGeom prst="rect">
            <a:avLst/>
          </a:prstGeom>
          <a:solidFill>
            <a:srgbClr val="7BC043"/>
          </a:solidFill>
          <a:ln w="12700">
            <a:solidFill>
              <a:srgbClr val="7BC043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4" name="Text 12"/>
          <p:cNvSpPr/>
          <p:nvPr/>
        </p:nvSpPr>
        <p:spPr>
          <a:xfrm>
            <a:off x="5669280" y="3456432"/>
            <a:ext cx="3017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Modelo Multilabel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669280" y="3730752"/>
            <a:ext cx="30175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</a:rPr>
              <a:t>Análisis predictivo de valores laborales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</a:rPr>
              <a:t>para recomendar las 3 mejores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</a:rPr>
              <a:t>opciones profesionales.</a:t>
            </a:r>
            <a:endParaRPr lang="en-US" sz="1000" dirty="0"/>
          </a:p>
        </p:txBody>
      </p:sp>
      <p:pic>
        <p:nvPicPr>
          <p:cNvPr id="19" name="Imagen 18" descr="Imagen de la pantalla de un celular en la mano&#10;&#10;El contenido generado por IA puede ser incorrecto.">
            <a:extLst>
              <a:ext uri="{FF2B5EF4-FFF2-40B4-BE49-F238E27FC236}">
                <a16:creationId xmlns:a16="http://schemas.microsoft.com/office/drawing/2014/main" id="{4725465A-7E54-619C-6D8D-28E9E6E24A2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24191"/>
          <a:stretch/>
        </p:blipFill>
        <p:spPr>
          <a:xfrm>
            <a:off x="5550789" y="58293"/>
            <a:ext cx="3161538" cy="3196971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91840" cy="5143500"/>
          </a:xfrm>
          <a:prstGeom prst="rect">
            <a:avLst/>
          </a:prstGeom>
          <a:solidFill>
            <a:srgbClr val="1A2332"/>
          </a:solidFill>
          <a:ln w="12700">
            <a:solidFill>
              <a:srgbClr val="1A2332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3" name="Shape 1"/>
          <p:cNvSpPr/>
          <p:nvPr/>
        </p:nvSpPr>
        <p:spPr>
          <a:xfrm>
            <a:off x="3291840" y="0"/>
            <a:ext cx="5852160" cy="5143500"/>
          </a:xfrm>
          <a:prstGeom prst="rect">
            <a:avLst/>
          </a:prstGeom>
          <a:solidFill>
            <a:srgbClr val="F8F9FA"/>
          </a:solidFill>
          <a:ln w="12700">
            <a:solidFill>
              <a:srgbClr val="F8F9FA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7BC043"/>
          </a:solidFill>
          <a:ln w="12700">
            <a:solidFill>
              <a:srgbClr val="7BC043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5" name="Shape 3"/>
          <p:cNvSpPr/>
          <p:nvPr/>
        </p:nvSpPr>
        <p:spPr>
          <a:xfrm>
            <a:off x="7772400" y="-548640"/>
            <a:ext cx="2286000" cy="2286000"/>
          </a:xfrm>
          <a:prstGeom prst="ellipse">
            <a:avLst/>
          </a:prstGeom>
          <a:solidFill>
            <a:srgbClr val="EBF7E0">
              <a:alpha val="60000"/>
            </a:srgbClr>
          </a:solidFill>
          <a:ln w="12700">
            <a:solidFill>
              <a:srgbClr val="EBF7E0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6" name="Shape 4"/>
          <p:cNvSpPr/>
          <p:nvPr/>
        </p:nvSpPr>
        <p:spPr>
          <a:xfrm>
            <a:off x="4389120" y="4114800"/>
            <a:ext cx="1645920" cy="1645920"/>
          </a:xfrm>
          <a:prstGeom prst="ellipse">
            <a:avLst/>
          </a:prstGeom>
          <a:solidFill>
            <a:srgbClr val="EBF7E0">
              <a:alpha val="60000"/>
            </a:srgbClr>
          </a:solidFill>
          <a:ln w="12700">
            <a:solidFill>
              <a:srgbClr val="EBF7E0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7" name="Text 5"/>
          <p:cNvSpPr/>
          <p:nvPr/>
        </p:nvSpPr>
        <p:spPr>
          <a:xfrm>
            <a:off x="228600" y="274320"/>
            <a:ext cx="2834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7BC043"/>
                </a:solidFill>
              </a:rPr>
              <a:t>ESTRUCTURA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228600" y="548640"/>
            <a:ext cx="28346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 del</a:t>
            </a:r>
            <a:endParaRPr lang="en-US" sz="3200" dirty="0"/>
          </a:p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Proyecto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228600" y="1783080"/>
            <a:ext cx="28346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</a:rPr>
              <a:t>Recorrido completo desde el entendimiento del problema hasta la solución técnica y demostración práctica.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228600" y="4480560"/>
            <a:ext cx="2834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BC043"/>
                </a:solidFill>
              </a:rPr>
              <a:t>🕐  Tiempo estimado: 15 min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228600" y="4754880"/>
            <a:ext cx="2834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BC043"/>
                </a:solidFill>
              </a:rPr>
              <a:t>🗂  8 Secciones clave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520440" y="822960"/>
            <a:ext cx="265176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50800" dist="127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13" name="Text 11"/>
          <p:cNvSpPr/>
          <p:nvPr/>
        </p:nvSpPr>
        <p:spPr>
          <a:xfrm>
            <a:off x="3685032" y="960120"/>
            <a:ext cx="502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7BC0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4178808" y="9601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Contexto de la Generación Z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400800" y="822960"/>
            <a:ext cx="265176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50800" dist="127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16" name="Text 14"/>
          <p:cNvSpPr/>
          <p:nvPr/>
        </p:nvSpPr>
        <p:spPr>
          <a:xfrm>
            <a:off x="6565392" y="960120"/>
            <a:ext cx="502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7BC0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7059168" y="9601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Resultados y valor práctico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3520440" y="1691640"/>
            <a:ext cx="265176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50800" dist="127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19" name="Text 17"/>
          <p:cNvSpPr/>
          <p:nvPr/>
        </p:nvSpPr>
        <p:spPr>
          <a:xfrm>
            <a:off x="3685032" y="1828800"/>
            <a:ext cx="502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7BC0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4178808" y="182880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problema que resolvemos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400800" y="1691640"/>
            <a:ext cx="265176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50800" dist="127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22" name="Text 20"/>
          <p:cNvSpPr/>
          <p:nvPr/>
        </p:nvSpPr>
        <p:spPr>
          <a:xfrm>
            <a:off x="6565392" y="1828800"/>
            <a:ext cx="502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7BC0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7059168" y="182880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rápida del sistema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3520440" y="2560320"/>
            <a:ext cx="265176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50800" dist="127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25" name="Text 23"/>
          <p:cNvSpPr/>
          <p:nvPr/>
        </p:nvSpPr>
        <p:spPr>
          <a:xfrm>
            <a:off x="3685032" y="2697480"/>
            <a:ext cx="502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7BC0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4178808" y="269748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datos y las 10 carreras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6400800" y="2560320"/>
            <a:ext cx="265176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50800" dist="127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28" name="Text 26"/>
          <p:cNvSpPr/>
          <p:nvPr/>
        </p:nvSpPr>
        <p:spPr>
          <a:xfrm>
            <a:off x="6565392" y="2697480"/>
            <a:ext cx="502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7BC0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7059168" y="269748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Limitaciones y próximos pasos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3520440" y="3429000"/>
            <a:ext cx="265176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50800" dist="127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31" name="Text 29"/>
          <p:cNvSpPr/>
          <p:nvPr/>
        </p:nvSpPr>
        <p:spPr>
          <a:xfrm>
            <a:off x="3685032" y="3566160"/>
            <a:ext cx="502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7BC0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4178808" y="356616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Cómo funciona la solución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6400800" y="3429000"/>
            <a:ext cx="265176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50800" dist="127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34" name="Text 32"/>
          <p:cNvSpPr/>
          <p:nvPr/>
        </p:nvSpPr>
        <p:spPr>
          <a:xfrm>
            <a:off x="6565392" y="3566160"/>
            <a:ext cx="502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7BC0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800" dirty="0"/>
          </a:p>
        </p:txBody>
      </p:sp>
      <p:sp>
        <p:nvSpPr>
          <p:cNvPr id="35" name="Text 33"/>
          <p:cNvSpPr/>
          <p:nvPr/>
        </p:nvSpPr>
        <p:spPr>
          <a:xfrm>
            <a:off x="7059168" y="356616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Conclusiones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A2332"/>
          </a:solidFill>
          <a:ln w="12700">
            <a:solidFill>
              <a:srgbClr val="1A2332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3" name="Shape 1"/>
          <p:cNvSpPr/>
          <p:nvPr/>
        </p:nvSpPr>
        <p:spPr>
          <a:xfrm>
            <a:off x="0" y="594360"/>
            <a:ext cx="9144000" cy="50292"/>
          </a:xfrm>
          <a:prstGeom prst="rect">
            <a:avLst/>
          </a:prstGeom>
          <a:solidFill>
            <a:srgbClr val="7BC043"/>
          </a:solidFill>
          <a:ln w="12700">
            <a:solidFill>
              <a:srgbClr val="7BC043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4" name="Text 2"/>
          <p:cNvSpPr/>
          <p:nvPr/>
        </p:nvSpPr>
        <p:spPr>
          <a:xfrm>
            <a:off x="274320" y="73152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Contexto Gen Z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114800" y="109728"/>
            <a:ext cx="4846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4A3B8"/>
                </a:solidFill>
              </a:rPr>
              <a:t>Qué buscan, qué les preocupa y cómo trabajan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977640" y="109728"/>
            <a:ext cx="36576" cy="365760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7" name="Text 5"/>
          <p:cNvSpPr/>
          <p:nvPr/>
        </p:nvSpPr>
        <p:spPr>
          <a:xfrm>
            <a:off x="274320" y="777240"/>
            <a:ext cx="8595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</a:rPr>
              <a:t>Para entender sus aspiraciones, primero debemos analizar los datos que definen su comportamiento en el mercado laboral actual.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274320" y="1371600"/>
            <a:ext cx="274320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7BC043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9" name="Text 7"/>
          <p:cNvSpPr/>
          <p:nvPr/>
        </p:nvSpPr>
        <p:spPr>
          <a:xfrm>
            <a:off x="1645920" y="1481328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3200" b="1" dirty="0">
                <a:solidFill>
                  <a:srgbClr val="1A2332"/>
                </a:solidFill>
              </a:rPr>
              <a:t>86%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411480" y="1938528"/>
            <a:ext cx="2468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1E293B"/>
                </a:solidFill>
              </a:rPr>
              <a:t>ALINEACIÓN DE VALORES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411480" y="219456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Buscan empleos que coincidan con sus principios éticos y personales.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127248" y="1371600"/>
            <a:ext cx="274320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7BC043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3" name="Text 11"/>
          <p:cNvSpPr/>
          <p:nvPr/>
        </p:nvSpPr>
        <p:spPr>
          <a:xfrm>
            <a:off x="4498848" y="1481328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3200" b="1" dirty="0">
                <a:solidFill>
                  <a:srgbClr val="1A2332"/>
                </a:solidFill>
              </a:rPr>
              <a:t>70%</a:t>
            </a:r>
            <a:endParaRPr lang="en-US" sz="3200" dirty="0"/>
          </a:p>
        </p:txBody>
      </p:sp>
      <p:sp>
        <p:nvSpPr>
          <p:cNvPr id="14" name="Text 12"/>
          <p:cNvSpPr/>
          <p:nvPr/>
        </p:nvSpPr>
        <p:spPr>
          <a:xfrm>
            <a:off x="3264408" y="1938528"/>
            <a:ext cx="2468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1E293B"/>
                </a:solidFill>
              </a:rPr>
              <a:t>PRIORIDAD ESTABILIDAD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3264408" y="219456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Valoran la seguridad laboral y horarios estables por encima de la flexibilidad total.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980176" y="1371600"/>
            <a:ext cx="274320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s-CL" dirty="0"/>
          </a:p>
        </p:txBody>
      </p:sp>
      <p:sp>
        <p:nvSpPr>
          <p:cNvPr id="17" name="Text 15"/>
          <p:cNvSpPr/>
          <p:nvPr/>
        </p:nvSpPr>
        <p:spPr>
          <a:xfrm>
            <a:off x="7351776" y="1481328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3200" b="1" dirty="0">
                <a:solidFill>
                  <a:srgbClr val="1A2332"/>
                </a:solidFill>
              </a:rPr>
              <a:t>52%</a:t>
            </a:r>
            <a:endParaRPr lang="en-US" sz="3200" dirty="0"/>
          </a:p>
        </p:txBody>
      </p:sp>
      <p:sp>
        <p:nvSpPr>
          <p:cNvPr id="18" name="Text 16"/>
          <p:cNvSpPr/>
          <p:nvPr/>
        </p:nvSpPr>
        <p:spPr>
          <a:xfrm>
            <a:off x="6117336" y="1938528"/>
            <a:ext cx="2468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1E293B"/>
                </a:solidFill>
              </a:rPr>
              <a:t>ESTRÉS DIARIO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6117336" y="219456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Reportan sufrir estrés laboral todos los días; el 56% vive al día económicamente.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274320" y="2788920"/>
            <a:ext cx="274320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1" name="Text 19"/>
          <p:cNvSpPr/>
          <p:nvPr/>
        </p:nvSpPr>
        <p:spPr>
          <a:xfrm>
            <a:off x="1645920" y="2898648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3200" b="1" dirty="0">
                <a:solidFill>
                  <a:srgbClr val="1A2332"/>
                </a:solidFill>
              </a:rPr>
              <a:t>41%</a:t>
            </a:r>
            <a:endParaRPr lang="en-US" sz="3200" dirty="0"/>
          </a:p>
        </p:txBody>
      </p:sp>
      <p:sp>
        <p:nvSpPr>
          <p:cNvPr id="22" name="Text 20"/>
          <p:cNvSpPr/>
          <p:nvPr/>
        </p:nvSpPr>
        <p:spPr>
          <a:xfrm>
            <a:off x="411480" y="3355848"/>
            <a:ext cx="2468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1E293B"/>
                </a:solidFill>
              </a:rPr>
              <a:t>ALTA ROTACIÓN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411480" y="361188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Han dejado un empleo en menos de un año (dato específico de España).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127248" y="2788920"/>
            <a:ext cx="274320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5" name="Text 23"/>
          <p:cNvSpPr/>
          <p:nvPr/>
        </p:nvSpPr>
        <p:spPr>
          <a:xfrm>
            <a:off x="4498848" y="2898648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3200" b="1" dirty="0">
                <a:solidFill>
                  <a:srgbClr val="1A2332"/>
                </a:solidFill>
              </a:rPr>
              <a:t>64%</a:t>
            </a:r>
            <a:endParaRPr lang="en-US" sz="3200" dirty="0"/>
          </a:p>
        </p:txBody>
      </p:sp>
      <p:sp>
        <p:nvSpPr>
          <p:cNvPr id="26" name="Text 24"/>
          <p:cNvSpPr/>
          <p:nvPr/>
        </p:nvSpPr>
        <p:spPr>
          <a:xfrm>
            <a:off x="3264408" y="3355848"/>
            <a:ext cx="2468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1E293B"/>
                </a:solidFill>
              </a:rPr>
              <a:t>ADOPCIÓN DE IA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3264408" y="361188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Utilizan inteligencia artificial para resolver problemas en su trabajo diario.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5980176" y="2788920"/>
            <a:ext cx="2743200" cy="132588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9" name="Text 27"/>
          <p:cNvSpPr/>
          <p:nvPr/>
        </p:nvSpPr>
        <p:spPr>
          <a:xfrm>
            <a:off x="6117336" y="289864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00000"/>
                </a:solidFill>
              </a:rPr>
              <a:t>💡</a:t>
            </a:r>
            <a:endParaRPr lang="en-US" sz="2200" dirty="0"/>
          </a:p>
        </p:txBody>
      </p:sp>
      <p:sp>
        <p:nvSpPr>
          <p:cNvPr id="30" name="Text 28"/>
          <p:cNvSpPr/>
          <p:nvPr/>
        </p:nvSpPr>
        <p:spPr>
          <a:xfrm>
            <a:off x="6117336" y="3355848"/>
            <a:ext cx="2468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1E293B"/>
                </a:solidFill>
              </a:rPr>
              <a:t>INSIGHT CLAVE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6117336" y="361188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Buscan propósito, sí, pero acompañado de bienestar real, desarrollo y estabilidad.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274320" y="4544568"/>
            <a:ext cx="8595360" cy="365760"/>
          </a:xfrm>
          <a:prstGeom prst="rect">
            <a:avLst/>
          </a:prstGeom>
          <a:solidFill>
            <a:srgbClr val="1A2332"/>
          </a:solidFill>
          <a:ln w="12700">
            <a:solidFill>
              <a:srgbClr val="1A2332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33" name="Text 31"/>
          <p:cNvSpPr/>
          <p:nvPr/>
        </p:nvSpPr>
        <p:spPr>
          <a:xfrm>
            <a:off x="457200" y="4553712"/>
            <a:ext cx="8321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ℹ  Estos factores influyen directamente en las carreras que eligen como "Aspiracionales".</a:t>
            </a:r>
            <a:endParaRPr lang="en-US" sz="1100" dirty="0"/>
          </a:p>
        </p:txBody>
      </p:sp>
      <p:sp>
        <p:nvSpPr>
          <p:cNvPr id="34" name="Corazón 33">
            <a:extLst>
              <a:ext uri="{FF2B5EF4-FFF2-40B4-BE49-F238E27FC236}">
                <a16:creationId xmlns:a16="http://schemas.microsoft.com/office/drawing/2014/main" id="{05BF7087-5AD0-F02C-6A74-340A2A19D98D}"/>
              </a:ext>
            </a:extLst>
          </p:cNvPr>
          <p:cNvSpPr/>
          <p:nvPr/>
        </p:nvSpPr>
        <p:spPr>
          <a:xfrm>
            <a:off x="512064" y="1575054"/>
            <a:ext cx="385191" cy="283464"/>
          </a:xfrm>
          <a:prstGeom prst="hear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pic>
        <p:nvPicPr>
          <p:cNvPr id="36" name="Imagen 35" descr="Interfaz de usuario gráfica, Aplicación&#10;&#10;El contenido generado por IA puede ser incorrecto.">
            <a:extLst>
              <a:ext uri="{FF2B5EF4-FFF2-40B4-BE49-F238E27FC236}">
                <a16:creationId xmlns:a16="http://schemas.microsoft.com/office/drawing/2014/main" id="{0E85D97E-C05E-F05D-3CC7-E9441D18FA6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8705" t="68267" r="56712" b="24266"/>
          <a:stretch/>
        </p:blipFill>
        <p:spPr>
          <a:xfrm>
            <a:off x="3264408" y="2906236"/>
            <a:ext cx="566928" cy="519512"/>
          </a:xfrm>
          <a:prstGeom prst="rect">
            <a:avLst/>
          </a:prstGeom>
        </p:spPr>
      </p:pic>
      <p:pic>
        <p:nvPicPr>
          <p:cNvPr id="37" name="Imagen 36" descr="Interfaz de usuario gráfica, Aplicación&#10;&#10;El contenido generado por IA puede ser incorrecto.">
            <a:extLst>
              <a:ext uri="{FF2B5EF4-FFF2-40B4-BE49-F238E27FC236}">
                <a16:creationId xmlns:a16="http://schemas.microsoft.com/office/drawing/2014/main" id="{02BFD89F-04AB-8C2D-5915-6C73B00EED5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8501" t="43333" r="57158" b="48896"/>
          <a:stretch/>
        </p:blipFill>
        <p:spPr>
          <a:xfrm>
            <a:off x="3264407" y="1445190"/>
            <a:ext cx="501778" cy="505149"/>
          </a:xfrm>
          <a:prstGeom prst="rect">
            <a:avLst/>
          </a:prstGeom>
        </p:spPr>
      </p:pic>
      <p:pic>
        <p:nvPicPr>
          <p:cNvPr id="39" name="Gráfico 38" descr="Cerebro en la cabeza con relleno sólido">
            <a:extLst>
              <a:ext uri="{FF2B5EF4-FFF2-40B4-BE49-F238E27FC236}">
                <a16:creationId xmlns:a16="http://schemas.microsoft.com/office/drawing/2014/main" id="{512672CC-234E-0052-DD20-57A7745C5BA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180209" y="1474851"/>
            <a:ext cx="467106" cy="467106"/>
          </a:xfrm>
          <a:prstGeom prst="rect">
            <a:avLst/>
          </a:prstGeom>
        </p:spPr>
      </p:pic>
      <p:pic>
        <p:nvPicPr>
          <p:cNvPr id="41" name="Gráfico 40" descr="Ejecutar con relleno sólido">
            <a:extLst>
              <a:ext uri="{FF2B5EF4-FFF2-40B4-BE49-F238E27FC236}">
                <a16:creationId xmlns:a16="http://schemas.microsoft.com/office/drawing/2014/main" id="{905C2E87-98A0-9612-C855-45995F6EBC67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72059" y="2886836"/>
            <a:ext cx="409575" cy="40957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28600" y="137160"/>
            <a:ext cx="54864" cy="502920"/>
          </a:xfrm>
          <a:prstGeom prst="rect">
            <a:avLst/>
          </a:prstGeom>
          <a:solidFill>
            <a:srgbClr val="7BC043"/>
          </a:solidFill>
          <a:ln w="12700">
            <a:solidFill>
              <a:srgbClr val="7BC043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3" name="Text 1"/>
          <p:cNvSpPr/>
          <p:nvPr/>
        </p:nvSpPr>
        <p:spPr>
          <a:xfrm>
            <a:off x="365760" y="137160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Problema y la Solución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28600" y="822960"/>
            <a:ext cx="4297680" cy="173736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5" name="Shape 3"/>
          <p:cNvSpPr/>
          <p:nvPr/>
        </p:nvSpPr>
        <p:spPr>
          <a:xfrm>
            <a:off x="228600" y="822960"/>
            <a:ext cx="54864" cy="173736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6" name="Text 4"/>
          <p:cNvSpPr/>
          <p:nvPr/>
        </p:nvSpPr>
        <p:spPr>
          <a:xfrm>
            <a:off x="411480" y="896112"/>
            <a:ext cx="4023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EF4444"/>
                </a:solidFill>
              </a:rPr>
              <a:t>EL DESAFÍO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11480" y="1097280"/>
            <a:ext cx="40233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332"/>
                </a:solidFill>
              </a:rPr>
              <a:t>¿Podemos predecir las 3 carreras más afines para una persona joven, basándonos solo en sus valores y preferencias laborales?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65760" y="2167128"/>
            <a:ext cx="4160519" cy="25943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</a:rPr>
              <a:t>ℹ  Reto: Seleccionar las mejores opciones de un catálogo de 10 carreras distintas.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228600" y="2834640"/>
            <a:ext cx="4297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1E293B"/>
                </a:solidFill>
              </a:rPr>
              <a:t>¿POR QUÉ ES IMPORTANTE?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228600" y="3127248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00000"/>
                </a:solidFill>
              </a:rPr>
              <a:t>✅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02920" y="3127248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</a:rPr>
              <a:t>Orientación de Talento: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664208" y="3127248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</a:rPr>
              <a:t>Ayudar a los jóvenes a descubrir caminos profesionales alineados con su propósito.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28600" y="3529584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00000"/>
                </a:solidFill>
              </a:rPr>
              <a:t>✅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02920" y="3529584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</a:rPr>
              <a:t>Segmentación Efectiva: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664208" y="3529584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</a:rPr>
              <a:t>Permite a empresas y universidades diseñar ofertas más relevantes y atractivas.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228600" y="393192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00000"/>
                </a:solidFill>
              </a:rPr>
              <a:t>✅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02920" y="393192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</a:rPr>
              <a:t>Reducción de Rotación: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664208" y="3931920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</a:rPr>
              <a:t>Al mejorar el "match" inicial, aumentamos la probabilidad de permanencia y satisfacción.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754880" y="822960"/>
            <a:ext cx="4160520" cy="4023360"/>
          </a:xfrm>
          <a:prstGeom prst="rect">
            <a:avLst/>
          </a:prstGeom>
          <a:solidFill>
            <a:srgbClr val="1A2332"/>
          </a:solidFill>
          <a:ln w="12700">
            <a:solidFill>
              <a:srgbClr val="1A2332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0" name="Text 18"/>
          <p:cNvSpPr/>
          <p:nvPr/>
        </p:nvSpPr>
        <p:spPr>
          <a:xfrm>
            <a:off x="4937760" y="960120"/>
            <a:ext cx="3749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7BC043"/>
                </a:solidFill>
              </a:rPr>
              <a:t>NUESTRA SOLUCIÓN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4937760" y="1170432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</a:rPr>
              <a:t>Un modelo inteligente que traduce preferencias en recomendaciones concretas.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937760" y="1664208"/>
            <a:ext cx="3749040" cy="713232"/>
          </a:xfrm>
          <a:prstGeom prst="rect">
            <a:avLst/>
          </a:prstGeom>
          <a:solidFill>
            <a:srgbClr val="253545"/>
          </a:solidFill>
          <a:ln w="12700">
            <a:solidFill>
              <a:srgbClr val="253545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3" name="Text 21"/>
          <p:cNvSpPr/>
          <p:nvPr/>
        </p:nvSpPr>
        <p:spPr>
          <a:xfrm>
            <a:off x="5074920" y="1719072"/>
            <a:ext cx="3474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100" dirty="0">
                <a:solidFill>
                  <a:srgbClr val="94A3B8"/>
                </a:solidFill>
              </a:rPr>
              <a:t>ENTRADA (DATOS DEL USUARIO)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5074920" y="1938528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Valores, Estilo de Trabajo, Entorno Preferido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675120" y="2395728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7BC043"/>
                </a:solidFill>
              </a:rPr>
              <a:t>↓</a:t>
            </a:r>
            <a:endParaRPr lang="en-US" sz="1800" dirty="0"/>
          </a:p>
        </p:txBody>
      </p:sp>
      <p:sp>
        <p:nvSpPr>
          <p:cNvPr id="26" name="Shape 24"/>
          <p:cNvSpPr/>
          <p:nvPr/>
        </p:nvSpPr>
        <p:spPr>
          <a:xfrm>
            <a:off x="4937760" y="2624328"/>
            <a:ext cx="3749040" cy="713232"/>
          </a:xfrm>
          <a:prstGeom prst="rect">
            <a:avLst/>
          </a:prstGeom>
          <a:solidFill>
            <a:srgbClr val="253545"/>
          </a:solidFill>
          <a:ln w="12700">
            <a:solidFill>
              <a:srgbClr val="253545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7" name="Text 25"/>
          <p:cNvSpPr/>
          <p:nvPr/>
        </p:nvSpPr>
        <p:spPr>
          <a:xfrm>
            <a:off x="5074920" y="2679192"/>
            <a:ext cx="3474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100" dirty="0">
                <a:solidFill>
                  <a:srgbClr val="94A3B8"/>
                </a:solidFill>
              </a:rPr>
              <a:t>PROCESO (MODELO IA)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5074920" y="2898648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Análisis de patrones en datos históricos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6675120" y="3355848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7BC043"/>
                </a:solidFill>
              </a:rPr>
              <a:t>↓</a:t>
            </a:r>
            <a:endParaRPr lang="en-US" sz="1800" dirty="0"/>
          </a:p>
        </p:txBody>
      </p:sp>
      <p:sp>
        <p:nvSpPr>
          <p:cNvPr id="30" name="Shape 28"/>
          <p:cNvSpPr/>
          <p:nvPr/>
        </p:nvSpPr>
        <p:spPr>
          <a:xfrm>
            <a:off x="4937760" y="3611165"/>
            <a:ext cx="3749040" cy="1101852"/>
          </a:xfrm>
          <a:prstGeom prst="rect">
            <a:avLst/>
          </a:prstGeom>
          <a:gradFill flip="none" rotWithShape="1">
            <a:gsLst>
              <a:gs pos="0">
                <a:srgbClr val="5AA832">
                  <a:shade val="30000"/>
                  <a:satMod val="115000"/>
                </a:srgbClr>
              </a:gs>
              <a:gs pos="50000">
                <a:srgbClr val="5AA832">
                  <a:shade val="67500"/>
                  <a:satMod val="115000"/>
                </a:srgbClr>
              </a:gs>
              <a:gs pos="100000">
                <a:srgbClr val="5AA832">
                  <a:shade val="100000"/>
                  <a:satMod val="115000"/>
                </a:srgbClr>
              </a:gs>
            </a:gsLst>
            <a:lin ang="13500000" scaled="1"/>
            <a:tileRect/>
          </a:gradFill>
          <a:ln w="12700">
            <a:solidFill>
              <a:srgbClr val="5AA832"/>
            </a:solidFill>
            <a:prstDash val="solid"/>
          </a:ln>
        </p:spPr>
        <p:txBody>
          <a:bodyPr/>
          <a:lstStyle/>
          <a:p>
            <a:endParaRPr lang="es-CL" dirty="0">
              <a:solidFill>
                <a:srgbClr val="00B050"/>
              </a:solidFill>
            </a:endParaRPr>
          </a:p>
        </p:txBody>
      </p:sp>
      <p:sp>
        <p:nvSpPr>
          <p:cNvPr id="31" name="Text 29"/>
          <p:cNvSpPr/>
          <p:nvPr/>
        </p:nvSpPr>
        <p:spPr>
          <a:xfrm>
            <a:off x="5074920" y="3639312"/>
            <a:ext cx="3474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kern="0" spc="100" dirty="0">
                <a:solidFill>
                  <a:schemeClr val="bg1"/>
                </a:solidFill>
              </a:rPr>
              <a:t>SALIDA ESPERADA</a:t>
            </a:r>
            <a:endParaRPr lang="en-US" sz="1000" dirty="0">
              <a:solidFill>
                <a:schemeClr val="bg1"/>
              </a:solidFill>
            </a:endParaRPr>
          </a:p>
        </p:txBody>
      </p:sp>
      <p:sp>
        <p:nvSpPr>
          <p:cNvPr id="32" name="Text 30"/>
          <p:cNvSpPr/>
          <p:nvPr/>
        </p:nvSpPr>
        <p:spPr>
          <a:xfrm>
            <a:off x="5074920" y="3858768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Top-3 Carreras Recomendadas</a:t>
            </a:r>
            <a:endParaRPr lang="en-US" sz="1300" dirty="0"/>
          </a:p>
        </p:txBody>
      </p:sp>
      <p:sp>
        <p:nvSpPr>
          <p:cNvPr id="33" name="CuadroTexto 32">
            <a:extLst>
              <a:ext uri="{FF2B5EF4-FFF2-40B4-BE49-F238E27FC236}">
                <a16:creationId xmlns:a16="http://schemas.microsoft.com/office/drawing/2014/main" id="{1BF3623D-53DA-DBE5-6689-C63DD0A89438}"/>
              </a:ext>
            </a:extLst>
          </p:cNvPr>
          <p:cNvSpPr txBox="1"/>
          <p:nvPr/>
        </p:nvSpPr>
        <p:spPr>
          <a:xfrm>
            <a:off x="5074920" y="4320540"/>
            <a:ext cx="110871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sz="1000" b="1" dirty="0">
                <a:solidFill>
                  <a:srgbClr val="FFFF00"/>
                </a:solidFill>
              </a:rPr>
              <a:t>Data &amp; </a:t>
            </a:r>
            <a:r>
              <a:rPr lang="es-CL" sz="1000" b="1" dirty="0" err="1">
                <a:solidFill>
                  <a:srgbClr val="FFFF00"/>
                </a:solidFill>
              </a:rPr>
              <a:t>Insights</a:t>
            </a:r>
            <a:endParaRPr lang="es-CL" sz="1000" b="1" dirty="0">
              <a:solidFill>
                <a:srgbClr val="FFFF00"/>
              </a:solidFill>
            </a:endParaRPr>
          </a:p>
        </p:txBody>
      </p:sp>
      <p:sp>
        <p:nvSpPr>
          <p:cNvPr id="37" name="CuadroTexto 36">
            <a:extLst>
              <a:ext uri="{FF2B5EF4-FFF2-40B4-BE49-F238E27FC236}">
                <a16:creationId xmlns:a16="http://schemas.microsoft.com/office/drawing/2014/main" id="{F30F481B-13A6-2C33-D382-86B8FBE48164}"/>
              </a:ext>
            </a:extLst>
          </p:cNvPr>
          <p:cNvSpPr txBox="1"/>
          <p:nvPr/>
        </p:nvSpPr>
        <p:spPr>
          <a:xfrm>
            <a:off x="7535989" y="4306012"/>
            <a:ext cx="110871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sz="1000" b="1" dirty="0">
                <a:solidFill>
                  <a:srgbClr val="FFFF00"/>
                </a:solidFill>
              </a:rPr>
              <a:t>Management</a:t>
            </a:r>
          </a:p>
        </p:txBody>
      </p:sp>
      <p:sp>
        <p:nvSpPr>
          <p:cNvPr id="38" name="Rectángulo: esquinas redondeadas 37">
            <a:extLst>
              <a:ext uri="{FF2B5EF4-FFF2-40B4-BE49-F238E27FC236}">
                <a16:creationId xmlns:a16="http://schemas.microsoft.com/office/drawing/2014/main" id="{F02B1202-25CF-63FD-BC73-DCFEDF38AD77}"/>
              </a:ext>
            </a:extLst>
          </p:cNvPr>
          <p:cNvSpPr/>
          <p:nvPr/>
        </p:nvSpPr>
        <p:spPr>
          <a:xfrm>
            <a:off x="5074920" y="4309110"/>
            <a:ext cx="1005840" cy="257651"/>
          </a:xfrm>
          <a:prstGeom prst="roundRect">
            <a:avLst/>
          </a:prstGeom>
          <a:noFill/>
          <a:ln w="38100">
            <a:solidFill>
              <a:srgbClr val="33CC3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39" name="CuadroTexto 38">
            <a:extLst>
              <a:ext uri="{FF2B5EF4-FFF2-40B4-BE49-F238E27FC236}">
                <a16:creationId xmlns:a16="http://schemas.microsoft.com/office/drawing/2014/main" id="{F4E66168-D192-5D6A-01D7-A90A208701B3}"/>
              </a:ext>
            </a:extLst>
          </p:cNvPr>
          <p:cNvSpPr txBox="1"/>
          <p:nvPr/>
        </p:nvSpPr>
        <p:spPr>
          <a:xfrm>
            <a:off x="6471560" y="4320540"/>
            <a:ext cx="110871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sz="1000" b="1" dirty="0">
                <a:solidFill>
                  <a:srgbClr val="FFFF00"/>
                </a:solidFill>
              </a:rPr>
              <a:t>Creative</a:t>
            </a:r>
          </a:p>
        </p:txBody>
      </p:sp>
      <p:sp>
        <p:nvSpPr>
          <p:cNvPr id="40" name="Rectángulo: esquinas redondeadas 39">
            <a:extLst>
              <a:ext uri="{FF2B5EF4-FFF2-40B4-BE49-F238E27FC236}">
                <a16:creationId xmlns:a16="http://schemas.microsoft.com/office/drawing/2014/main" id="{46D4A859-5873-80D0-50A7-67986ACE379D}"/>
              </a:ext>
            </a:extLst>
          </p:cNvPr>
          <p:cNvSpPr/>
          <p:nvPr/>
        </p:nvSpPr>
        <p:spPr>
          <a:xfrm>
            <a:off x="6274117" y="4317444"/>
            <a:ext cx="1005840" cy="257651"/>
          </a:xfrm>
          <a:prstGeom prst="roundRect">
            <a:avLst/>
          </a:prstGeom>
          <a:noFill/>
          <a:ln w="38100">
            <a:solidFill>
              <a:srgbClr val="33CC3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41" name="Rectángulo: esquinas redondeadas 40">
            <a:extLst>
              <a:ext uri="{FF2B5EF4-FFF2-40B4-BE49-F238E27FC236}">
                <a16:creationId xmlns:a16="http://schemas.microsoft.com/office/drawing/2014/main" id="{9C7E8A3A-8942-FDCA-9877-968669C786A3}"/>
              </a:ext>
            </a:extLst>
          </p:cNvPr>
          <p:cNvSpPr/>
          <p:nvPr/>
        </p:nvSpPr>
        <p:spPr>
          <a:xfrm>
            <a:off x="7458075" y="4321252"/>
            <a:ext cx="1005840" cy="257651"/>
          </a:xfrm>
          <a:prstGeom prst="roundRect">
            <a:avLst/>
          </a:prstGeom>
          <a:noFill/>
          <a:ln w="38100">
            <a:solidFill>
              <a:srgbClr val="33CC3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685800" y="9144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Datos: ¿Con qué entrenamos?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8503920" y="1097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94A3B8"/>
                </a:solidFill>
              </a:rPr>
              <a:t>05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85800" y="566928"/>
            <a:ext cx="914400" cy="45720"/>
          </a:xfrm>
          <a:prstGeom prst="rect">
            <a:avLst/>
          </a:prstGeom>
          <a:solidFill>
            <a:srgbClr val="7BC043"/>
          </a:solidFill>
          <a:ln w="12700">
            <a:solidFill>
              <a:srgbClr val="7BC043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6" name="Shape 4"/>
          <p:cNvSpPr/>
          <p:nvPr/>
        </p:nvSpPr>
        <p:spPr>
          <a:xfrm>
            <a:off x="228600" y="749808"/>
            <a:ext cx="4114800" cy="249631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7" name="Text 5"/>
          <p:cNvSpPr/>
          <p:nvPr/>
        </p:nvSpPr>
        <p:spPr>
          <a:xfrm>
            <a:off x="457200" y="877824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2332"/>
                </a:solidFill>
              </a:rPr>
              <a:t>Resumen del Dataset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365760" y="877824"/>
            <a:ext cx="54864" cy="292608"/>
          </a:xfrm>
          <a:prstGeom prst="rect">
            <a:avLst/>
          </a:prstGeom>
          <a:solidFill>
            <a:srgbClr val="7BC043"/>
          </a:solidFill>
          <a:ln w="12700">
            <a:solidFill>
              <a:srgbClr val="7BC043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9" name="Text 7"/>
          <p:cNvSpPr/>
          <p:nvPr/>
        </p:nvSpPr>
        <p:spPr>
          <a:xfrm>
            <a:off x="457200" y="1280160"/>
            <a:ext cx="365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7BC043"/>
                </a:solidFill>
              </a:rPr>
              <a:t>👥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22960" y="1280160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</a:rPr>
              <a:t>Tamaño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2011680" y="1280160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332"/>
                </a:solidFill>
              </a:rPr>
              <a:t>235 Participantes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57200" y="1719072"/>
            <a:ext cx="365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7BC043"/>
                </a:solidFill>
              </a:rPr>
              <a:t>⊞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22960" y="1719072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</a:rPr>
              <a:t>Variables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2011680" y="1719072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332"/>
                </a:solidFill>
              </a:rPr>
              <a:t>15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2377440" y="1757786"/>
            <a:ext cx="891054" cy="290470"/>
          </a:xfrm>
          <a:prstGeom prst="rect">
            <a:avLst/>
          </a:prstGeom>
          <a:solidFill>
            <a:srgbClr val="7BC043"/>
          </a:solidFill>
          <a:ln w="12700">
            <a:solidFill>
              <a:srgbClr val="66FF66"/>
            </a:solidFill>
            <a:prstDash val="solid"/>
          </a:ln>
        </p:spPr>
        <p:txBody>
          <a:bodyPr/>
          <a:lstStyle/>
          <a:p>
            <a:endParaRPr lang="es-CL" dirty="0"/>
          </a:p>
        </p:txBody>
      </p:sp>
      <p:sp>
        <p:nvSpPr>
          <p:cNvPr id="16" name="Text 14"/>
          <p:cNvSpPr/>
          <p:nvPr/>
        </p:nvSpPr>
        <p:spPr>
          <a:xfrm>
            <a:off x="2286000" y="1775784"/>
            <a:ext cx="10972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13 Predictoras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457200" y="2157984"/>
            <a:ext cx="365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7BC043"/>
                </a:solidFill>
              </a:rPr>
              <a:t>◎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22960" y="2157984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</a:rPr>
              <a:t>Objetivo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2011680" y="2157984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332"/>
                </a:solidFill>
              </a:rPr>
              <a:t>10 Carreras Posibles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57200" y="2596896"/>
            <a:ext cx="365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7BC043"/>
                </a:solidFill>
              </a:rPr>
              <a:t>▽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22960" y="2596896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</a:rPr>
              <a:t>Tipo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2011680" y="2596896"/>
            <a:ext cx="1783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332"/>
                </a:solidFill>
              </a:rPr>
              <a:t>Categórico (Encuesta)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228600" y="3703320"/>
            <a:ext cx="4114800" cy="86868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4" name="Text 22"/>
          <p:cNvSpPr/>
          <p:nvPr/>
        </p:nvSpPr>
        <p:spPr>
          <a:xfrm>
            <a:off x="365760" y="374904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</a:rPr>
              <a:t>🔗  Fuente: Kaggle — "Understanding Career Aspirations of GenZ" (KultureHire)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365760" y="4041648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</a:rPr>
              <a:t>ℹ  Nota Técnica: La variable "Zip Code" fue excluida por tener demasiados valores únicos (190) para evitar ruido.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4526280" y="749808"/>
            <a:ext cx="4343400" cy="38221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7" name="Text 25"/>
          <p:cNvSpPr/>
          <p:nvPr/>
        </p:nvSpPr>
        <p:spPr>
          <a:xfrm>
            <a:off x="4709160" y="877824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2332"/>
                </a:solidFill>
              </a:rPr>
              <a:t>Distribución Geográfica (Sesgo)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4663440" y="877824"/>
            <a:ext cx="54864" cy="274320"/>
          </a:xfrm>
          <a:prstGeom prst="rect">
            <a:avLst/>
          </a:prstGeom>
          <a:solidFill>
            <a:srgbClr val="7BC043"/>
          </a:solidFill>
          <a:ln w="12700">
            <a:solidFill>
              <a:srgbClr val="7BC043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9" name="Shape 27"/>
          <p:cNvSpPr/>
          <p:nvPr/>
        </p:nvSpPr>
        <p:spPr>
          <a:xfrm>
            <a:off x="5303520" y="1554480"/>
            <a:ext cx="0" cy="256032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30" name="Shape 28"/>
          <p:cNvSpPr/>
          <p:nvPr/>
        </p:nvSpPr>
        <p:spPr>
          <a:xfrm>
            <a:off x="5303520" y="4114800"/>
            <a:ext cx="25603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31" name="Text 29"/>
          <p:cNvSpPr/>
          <p:nvPr/>
        </p:nvSpPr>
        <p:spPr>
          <a:xfrm>
            <a:off x="4892040" y="1463040"/>
            <a:ext cx="3657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4A3B8"/>
                </a:solidFill>
              </a:rPr>
              <a:t>250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5303520" y="1554480"/>
            <a:ext cx="25603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33" name="Text 31"/>
          <p:cNvSpPr/>
          <p:nvPr/>
        </p:nvSpPr>
        <p:spPr>
          <a:xfrm>
            <a:off x="4892040" y="1975104"/>
            <a:ext cx="3657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4A3B8"/>
                </a:solidFill>
              </a:rPr>
              <a:t>200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5303520" y="2066544"/>
            <a:ext cx="25603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35" name="Text 33"/>
          <p:cNvSpPr/>
          <p:nvPr/>
        </p:nvSpPr>
        <p:spPr>
          <a:xfrm>
            <a:off x="4892040" y="2487168"/>
            <a:ext cx="3657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4A3B8"/>
                </a:solidFill>
              </a:rPr>
              <a:t>150</a:t>
            </a:r>
            <a:endParaRPr lang="en-US" sz="800" dirty="0"/>
          </a:p>
        </p:txBody>
      </p:sp>
      <p:sp>
        <p:nvSpPr>
          <p:cNvPr id="36" name="Shape 34"/>
          <p:cNvSpPr/>
          <p:nvPr/>
        </p:nvSpPr>
        <p:spPr>
          <a:xfrm>
            <a:off x="5303520" y="2578608"/>
            <a:ext cx="25603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37" name="Text 35"/>
          <p:cNvSpPr/>
          <p:nvPr/>
        </p:nvSpPr>
        <p:spPr>
          <a:xfrm>
            <a:off x="4892040" y="2999232"/>
            <a:ext cx="3657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4A3B8"/>
                </a:solidFill>
              </a:rPr>
              <a:t>100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5303520" y="3090672"/>
            <a:ext cx="25603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39" name="Text 37"/>
          <p:cNvSpPr/>
          <p:nvPr/>
        </p:nvSpPr>
        <p:spPr>
          <a:xfrm>
            <a:off x="4892040" y="3511296"/>
            <a:ext cx="3657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4A3B8"/>
                </a:solidFill>
              </a:rPr>
              <a:t>50</a:t>
            </a:r>
            <a:endParaRPr lang="en-US" sz="800" dirty="0"/>
          </a:p>
        </p:txBody>
      </p:sp>
      <p:sp>
        <p:nvSpPr>
          <p:cNvPr id="40" name="Shape 38"/>
          <p:cNvSpPr/>
          <p:nvPr/>
        </p:nvSpPr>
        <p:spPr>
          <a:xfrm>
            <a:off x="5303520" y="3602736"/>
            <a:ext cx="25603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41" name="Text 39"/>
          <p:cNvSpPr/>
          <p:nvPr/>
        </p:nvSpPr>
        <p:spPr>
          <a:xfrm>
            <a:off x="4892040" y="4023360"/>
            <a:ext cx="3657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4A3B8"/>
                </a:solidFill>
              </a:rPr>
              <a:t>0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>
            <a:off x="5303520" y="4114800"/>
            <a:ext cx="25603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43" name="Shape 41"/>
          <p:cNvSpPr/>
          <p:nvPr/>
        </p:nvSpPr>
        <p:spPr>
          <a:xfrm>
            <a:off x="5440680" y="1861718"/>
            <a:ext cx="731520" cy="2253082"/>
          </a:xfrm>
          <a:prstGeom prst="rect">
            <a:avLst/>
          </a:prstGeom>
          <a:solidFill>
            <a:srgbClr val="7BC043"/>
          </a:solidFill>
          <a:ln w="12700">
            <a:solidFill>
              <a:srgbClr val="7BC043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44" name="Text 42"/>
          <p:cNvSpPr/>
          <p:nvPr/>
        </p:nvSpPr>
        <p:spPr>
          <a:xfrm>
            <a:off x="5349240" y="4160520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</a:rPr>
              <a:t>India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6492240" y="3961181"/>
            <a:ext cx="731520" cy="153619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46" name="Text 44"/>
          <p:cNvSpPr/>
          <p:nvPr/>
        </p:nvSpPr>
        <p:spPr>
          <a:xfrm>
            <a:off x="6263640" y="416052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</a:rPr>
              <a:t>United Arab Emirates</a:t>
            </a:r>
            <a:endParaRPr lang="en-US" sz="800" dirty="0"/>
          </a:p>
        </p:txBody>
      </p:sp>
      <p:sp>
        <p:nvSpPr>
          <p:cNvPr id="47" name="Shape 45"/>
          <p:cNvSpPr/>
          <p:nvPr/>
        </p:nvSpPr>
        <p:spPr>
          <a:xfrm>
            <a:off x="7269480" y="3200400"/>
            <a:ext cx="1508760" cy="1005840"/>
          </a:xfrm>
          <a:prstGeom prst="rect">
            <a:avLst/>
          </a:prstGeom>
          <a:solidFill>
            <a:srgbClr val="FFFBE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48" name="Text 46"/>
          <p:cNvSpPr/>
          <p:nvPr/>
        </p:nvSpPr>
        <p:spPr>
          <a:xfrm>
            <a:off x="7315200" y="3246120"/>
            <a:ext cx="1417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59E0B"/>
                </a:solidFill>
              </a:rPr>
              <a:t>⚠ Atención: Sesgo Geográfico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7315200" y="3493008"/>
            <a:ext cx="1417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</a:rPr>
              <a:t>El 95% de los datos provienen de India. El modelo funcionará mejor para perfiles de esta región.</a:t>
            </a:r>
            <a:endParaRPr lang="en-US" sz="850" dirty="0"/>
          </a:p>
        </p:txBody>
      </p:sp>
      <p:pic>
        <p:nvPicPr>
          <p:cNvPr id="53" name="Gráfico 52" descr="Base de datos con relleno sólido">
            <a:extLst>
              <a:ext uri="{FF2B5EF4-FFF2-40B4-BE49-F238E27FC236}">
                <a16:creationId xmlns:a16="http://schemas.microsoft.com/office/drawing/2014/main" id="{26D38D22-E739-0D1C-2254-C473B409AE4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28600" y="100973"/>
            <a:ext cx="491249" cy="491249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28600" y="9144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7BC043"/>
                </a:solidFill>
              </a:rPr>
              <a:t>≡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621792" y="91440"/>
            <a:ext cx="6858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A2332"/>
                </a:solidFill>
              </a:rPr>
              <a:t>Las 10 Carreras del Catálogo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8503920" y="1097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94A3B8"/>
                </a:solidFill>
              </a:rPr>
              <a:t>06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21792" y="530352"/>
            <a:ext cx="822960" cy="45720"/>
          </a:xfrm>
          <a:prstGeom prst="rect">
            <a:avLst/>
          </a:prstGeom>
          <a:solidFill>
            <a:srgbClr val="7BC043"/>
          </a:solidFill>
          <a:ln w="12700">
            <a:solidFill>
              <a:srgbClr val="7BC043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6" name="Text 4"/>
          <p:cNvSpPr/>
          <p:nvPr/>
        </p:nvSpPr>
        <p:spPr>
          <a:xfrm>
            <a:off x="228600" y="658368"/>
            <a:ext cx="3886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</a:rPr>
              <a:t>El modelo debe elegir entre estas 10 opciones profesionales. Sin embargo, no todas son igual de populares entre los encuestados, lo que crea un desafío técnico.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28600" y="1325880"/>
            <a:ext cx="3886200" cy="3611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8" name="Text 6"/>
          <p:cNvSpPr/>
          <p:nvPr/>
        </p:nvSpPr>
        <p:spPr>
          <a:xfrm>
            <a:off x="457200" y="1444752"/>
            <a:ext cx="3429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332"/>
                </a:solidFill>
              </a:rPr>
              <a:t>Opciones Disponibles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7200" y="1737360"/>
            <a:ext cx="2286000" cy="36576"/>
          </a:xfrm>
          <a:prstGeom prst="rect">
            <a:avLst/>
          </a:prstGeom>
          <a:solidFill>
            <a:srgbClr val="7BC043"/>
          </a:solidFill>
          <a:ln w="12700">
            <a:solidFill>
              <a:srgbClr val="7BC043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0" name="Text 8"/>
          <p:cNvSpPr/>
          <p:nvPr/>
        </p:nvSpPr>
        <p:spPr>
          <a:xfrm>
            <a:off x="411480" y="1847088"/>
            <a:ext cx="274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00000"/>
                </a:solidFill>
              </a:rPr>
              <a:t>📊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685800" y="1847088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</a:rPr>
              <a:t>Data &amp; Insights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11480" y="2148840"/>
            <a:ext cx="274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00000"/>
                </a:solidFill>
              </a:rPr>
              <a:t>📊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85800" y="2148840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</a:rPr>
              <a:t>Software Development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11480" y="2450592"/>
            <a:ext cx="274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00000"/>
                </a:solidFill>
              </a:rPr>
              <a:t>📊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85800" y="2450592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</a:rPr>
              <a:t>Business Operations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11480" y="2752344"/>
            <a:ext cx="274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00000"/>
                </a:solidFill>
              </a:rPr>
              <a:t>📊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685800" y="2752344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</a:rPr>
              <a:t>Creative Strategy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11480" y="3054096"/>
            <a:ext cx="274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00000"/>
                </a:solidFill>
              </a:rPr>
              <a:t>📊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85800" y="3054096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</a:rPr>
              <a:t>Project Management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11480" y="3355848"/>
            <a:ext cx="274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00000"/>
                </a:solidFill>
              </a:rPr>
              <a:t>📊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685800" y="3355848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</a:rPr>
              <a:t>Team Leadership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11480" y="3657600"/>
            <a:ext cx="274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00000"/>
                </a:solidFill>
              </a:rPr>
              <a:t>📊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85800" y="3657600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</a:rPr>
              <a:t>Teaching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11480" y="3959352"/>
            <a:ext cx="274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00000"/>
                </a:solidFill>
              </a:rPr>
              <a:t>📊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685800" y="3959352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</a:rPr>
              <a:t>Freelancing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11480" y="4261104"/>
            <a:ext cx="274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00000"/>
                </a:solidFill>
              </a:rPr>
              <a:t>📊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685800" y="4261104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</a:rPr>
              <a:t>Content Creator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11480" y="4562856"/>
            <a:ext cx="274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00000"/>
                </a:solidFill>
              </a:rPr>
              <a:t>📊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685800" y="4562856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</a:rPr>
              <a:t>BPO (Atención al Cliente)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4131945" y="1317307"/>
            <a:ext cx="4389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332"/>
                </a:solidFill>
              </a:rPr>
              <a:t>Frecuencia de Aparición por Carrera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6660261" y="1336358"/>
            <a:ext cx="872109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BC043"/>
                </a:solidFill>
              </a:rPr>
              <a:t>● Frecuentes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7374255" y="1372885"/>
            <a:ext cx="1146810" cy="2088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59E0B"/>
                </a:solidFill>
              </a:rPr>
              <a:t>● Menos Comunes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8366760" y="1381315"/>
            <a:ext cx="731520" cy="1920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F4444"/>
                </a:solidFill>
              </a:rPr>
              <a:t>● Raras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4297680" y="1773936"/>
            <a:ext cx="1045845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</a:rPr>
              <a:t>Data &amp; Insights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5343525" y="1832229"/>
            <a:ext cx="3657600" cy="219456"/>
          </a:xfrm>
          <a:prstGeom prst="rect">
            <a:avLst/>
          </a:prstGeom>
          <a:solidFill>
            <a:srgbClr val="7BC043"/>
          </a:solidFill>
          <a:ln w="12700">
            <a:solidFill>
              <a:srgbClr val="7BC043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36" name="Text 34"/>
          <p:cNvSpPr/>
          <p:nvPr/>
        </p:nvSpPr>
        <p:spPr>
          <a:xfrm>
            <a:off x="4297680" y="2112264"/>
            <a:ext cx="1045845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</a:rPr>
              <a:t>Software Dev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5343525" y="2160651"/>
            <a:ext cx="3291840" cy="219456"/>
          </a:xfrm>
          <a:prstGeom prst="rect">
            <a:avLst/>
          </a:prstGeom>
          <a:solidFill>
            <a:srgbClr val="7BC043"/>
          </a:solidFill>
          <a:ln w="12700">
            <a:solidFill>
              <a:srgbClr val="7BC043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38" name="Text 36"/>
          <p:cNvSpPr/>
          <p:nvPr/>
        </p:nvSpPr>
        <p:spPr>
          <a:xfrm>
            <a:off x="4297680" y="2450592"/>
            <a:ext cx="1045845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</a:rPr>
              <a:t>Business Ops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5343525" y="2497646"/>
            <a:ext cx="2633472" cy="219456"/>
          </a:xfrm>
          <a:prstGeom prst="rect">
            <a:avLst/>
          </a:prstGeom>
          <a:solidFill>
            <a:srgbClr val="7BC043"/>
          </a:solidFill>
          <a:ln w="12700">
            <a:solidFill>
              <a:srgbClr val="7BC043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40" name="Text 38"/>
          <p:cNvSpPr/>
          <p:nvPr/>
        </p:nvSpPr>
        <p:spPr>
          <a:xfrm>
            <a:off x="4114800" y="2788920"/>
            <a:ext cx="1228725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</a:rPr>
              <a:t>Creative Strategy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5343525" y="2798064"/>
            <a:ext cx="2011680" cy="219456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42" name="Text 40"/>
          <p:cNvSpPr/>
          <p:nvPr/>
        </p:nvSpPr>
        <p:spPr>
          <a:xfrm>
            <a:off x="4297680" y="3127248"/>
            <a:ext cx="1045845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</a:rPr>
              <a:t>Project Mgmt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5343525" y="3118104"/>
            <a:ext cx="1828800" cy="219456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44" name="Text 42"/>
          <p:cNvSpPr/>
          <p:nvPr/>
        </p:nvSpPr>
        <p:spPr>
          <a:xfrm>
            <a:off x="4114800" y="3465576"/>
            <a:ext cx="1228725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</a:rPr>
              <a:t>Team Leadership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5343525" y="3465576"/>
            <a:ext cx="1572768" cy="219456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46" name="Text 44"/>
          <p:cNvSpPr/>
          <p:nvPr/>
        </p:nvSpPr>
        <p:spPr>
          <a:xfrm>
            <a:off x="4297680" y="3803904"/>
            <a:ext cx="1045845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</a:rPr>
              <a:t>Teaching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5343525" y="3803904"/>
            <a:ext cx="1389888" cy="219456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48" name="Text 46"/>
          <p:cNvSpPr/>
          <p:nvPr/>
        </p:nvSpPr>
        <p:spPr>
          <a:xfrm>
            <a:off x="4297680" y="4142232"/>
            <a:ext cx="1045845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</a:rPr>
              <a:t>Freelancing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5343525" y="4151376"/>
            <a:ext cx="1207008" cy="219456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50" name="Text 48"/>
          <p:cNvSpPr/>
          <p:nvPr/>
        </p:nvSpPr>
        <p:spPr>
          <a:xfrm>
            <a:off x="4297680" y="4480560"/>
            <a:ext cx="1045845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</a:rPr>
              <a:t>Content Creator</a:t>
            </a:r>
            <a:endParaRPr lang="en-US" sz="1000" dirty="0"/>
          </a:p>
        </p:txBody>
      </p:sp>
      <p:sp>
        <p:nvSpPr>
          <p:cNvPr id="51" name="Shape 49"/>
          <p:cNvSpPr/>
          <p:nvPr/>
        </p:nvSpPr>
        <p:spPr>
          <a:xfrm>
            <a:off x="5349240" y="4498848"/>
            <a:ext cx="731520" cy="219456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52" name="Text 50"/>
          <p:cNvSpPr/>
          <p:nvPr/>
        </p:nvSpPr>
        <p:spPr>
          <a:xfrm>
            <a:off x="4297680" y="4818888"/>
            <a:ext cx="1045845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</a:rPr>
              <a:t>BPO</a:t>
            </a:r>
            <a:endParaRPr lang="en-US" sz="1000" dirty="0"/>
          </a:p>
        </p:txBody>
      </p:sp>
      <p:sp>
        <p:nvSpPr>
          <p:cNvPr id="53" name="Shape 51"/>
          <p:cNvSpPr/>
          <p:nvPr/>
        </p:nvSpPr>
        <p:spPr>
          <a:xfrm>
            <a:off x="5349240" y="4807712"/>
            <a:ext cx="438912" cy="219456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54" name="Shape 52"/>
          <p:cNvSpPr/>
          <p:nvPr/>
        </p:nvSpPr>
        <p:spPr>
          <a:xfrm>
            <a:off x="4160519" y="627234"/>
            <a:ext cx="4840605" cy="497232"/>
          </a:xfrm>
          <a:prstGeom prst="rect">
            <a:avLst/>
          </a:prstGeom>
          <a:solidFill>
            <a:srgbClr val="FFFBE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55" name="Text 53"/>
          <p:cNvSpPr/>
          <p:nvPr/>
        </p:nvSpPr>
        <p:spPr>
          <a:xfrm>
            <a:off x="4160520" y="610733"/>
            <a:ext cx="4937760" cy="5265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59E0B"/>
                </a:solidFill>
              </a:rPr>
              <a:t>⚖  Desbalance de Datos: BPO y Content Creator tienen muy pocos ejemplos para que el modelo aprenda bien.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457200"/>
            <a:ext cx="2743200" cy="2743200"/>
          </a:xfrm>
          <a:prstGeom prst="ellipse">
            <a:avLst/>
          </a:prstGeom>
          <a:solidFill>
            <a:srgbClr val="EBF7E0">
              <a:alpha val="50000"/>
            </a:srgbClr>
          </a:solidFill>
          <a:ln w="12700">
            <a:solidFill>
              <a:srgbClr val="EBF7E0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3" name="Shape 1"/>
          <p:cNvSpPr/>
          <p:nvPr/>
        </p:nvSpPr>
        <p:spPr>
          <a:xfrm>
            <a:off x="5943600" y="3474720"/>
            <a:ext cx="1828800" cy="1828800"/>
          </a:xfrm>
          <a:prstGeom prst="ellipse">
            <a:avLst/>
          </a:prstGeom>
          <a:solidFill>
            <a:srgbClr val="EBF7E0">
              <a:alpha val="50000"/>
            </a:srgbClr>
          </a:solidFill>
          <a:ln w="12700">
            <a:solidFill>
              <a:srgbClr val="EBF7E0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4" name="Text 2"/>
          <p:cNvSpPr/>
          <p:nvPr/>
        </p:nvSpPr>
        <p:spPr>
          <a:xfrm>
            <a:off x="228600" y="91440"/>
            <a:ext cx="640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7BC043"/>
                </a:solidFill>
              </a:rPr>
              <a:t>⚙⚙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822960" y="91440"/>
            <a:ext cx="6858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2332"/>
                </a:solidFill>
              </a:rPr>
              <a:t>¿Cómo funciona la solución?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8503920" y="1097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94A3B8"/>
                </a:solidFill>
              </a:rPr>
              <a:t>07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228600" y="566928"/>
            <a:ext cx="9144000" cy="2286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8" name="Shape 6"/>
          <p:cNvSpPr/>
          <p:nvPr/>
        </p:nvSpPr>
        <p:spPr>
          <a:xfrm>
            <a:off x="365760" y="749808"/>
            <a:ext cx="2697480" cy="3017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9" name="Shape 7"/>
          <p:cNvSpPr/>
          <p:nvPr/>
        </p:nvSpPr>
        <p:spPr>
          <a:xfrm>
            <a:off x="1513332" y="676656"/>
            <a:ext cx="402336" cy="402336"/>
          </a:xfrm>
          <a:prstGeom prst="ellipse">
            <a:avLst/>
          </a:prstGeom>
          <a:solidFill>
            <a:srgbClr val="1A2332"/>
          </a:solidFill>
          <a:ln w="12700">
            <a:solidFill>
              <a:srgbClr val="1A2332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0" name="Text 8"/>
          <p:cNvSpPr/>
          <p:nvPr/>
        </p:nvSpPr>
        <p:spPr>
          <a:xfrm>
            <a:off x="1513332" y="676656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1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1303020" y="1120140"/>
            <a:ext cx="822960" cy="822960"/>
          </a:xfrm>
          <a:prstGeom prst="ellipse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2" name="Text 10"/>
          <p:cNvSpPr/>
          <p:nvPr/>
        </p:nvSpPr>
        <p:spPr>
          <a:xfrm>
            <a:off x="1303020" y="96012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📋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502920" y="1920240"/>
            <a:ext cx="2423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A2332"/>
                </a:solidFill>
              </a:rPr>
              <a:t>Leemos las Respuestas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02920" y="2359152"/>
            <a:ext cx="24231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64748B"/>
                </a:solidFill>
              </a:rPr>
              <a:t>El sistema recibe datos sobre valores, estilo de trabajo preferido y expectativas del usuario (ej. "busco flexibilidad", "me motiva aprender").</a:t>
            </a:r>
            <a:endParaRPr lang="en-US" sz="1200" b="1" dirty="0"/>
          </a:p>
        </p:txBody>
      </p:sp>
      <p:sp>
        <p:nvSpPr>
          <p:cNvPr id="15" name="Shape 13"/>
          <p:cNvSpPr/>
          <p:nvPr/>
        </p:nvSpPr>
        <p:spPr>
          <a:xfrm>
            <a:off x="3090672" y="1399032"/>
            <a:ext cx="128016" cy="0"/>
          </a:xfrm>
          <a:prstGeom prst="line">
            <a:avLst/>
          </a:prstGeom>
          <a:noFill/>
          <a:ln w="12700">
            <a:solidFill>
              <a:srgbClr val="7BC043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6" name="Shape 14"/>
          <p:cNvSpPr/>
          <p:nvPr/>
        </p:nvSpPr>
        <p:spPr>
          <a:xfrm>
            <a:off x="3246120" y="749808"/>
            <a:ext cx="2697480" cy="3017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17" name="Shape 15"/>
          <p:cNvSpPr/>
          <p:nvPr/>
        </p:nvSpPr>
        <p:spPr>
          <a:xfrm>
            <a:off x="4393692" y="676656"/>
            <a:ext cx="402336" cy="402336"/>
          </a:xfrm>
          <a:prstGeom prst="ellipse">
            <a:avLst/>
          </a:prstGeom>
          <a:solidFill>
            <a:srgbClr val="1A2332"/>
          </a:solidFill>
          <a:ln w="12700">
            <a:solidFill>
              <a:srgbClr val="1A2332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8" name="Text 16"/>
          <p:cNvSpPr/>
          <p:nvPr/>
        </p:nvSpPr>
        <p:spPr>
          <a:xfrm>
            <a:off x="4393692" y="676656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2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4183380" y="1116584"/>
            <a:ext cx="822960" cy="822960"/>
          </a:xfrm>
          <a:prstGeom prst="ellipse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0" name="Text 18"/>
          <p:cNvSpPr/>
          <p:nvPr/>
        </p:nvSpPr>
        <p:spPr>
          <a:xfrm>
            <a:off x="4183380" y="96012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🔲</a:t>
            </a:r>
            <a:endParaRPr lang="en-US" sz="2400" dirty="0"/>
          </a:p>
        </p:txBody>
      </p:sp>
      <p:sp>
        <p:nvSpPr>
          <p:cNvPr id="21" name="Text 19"/>
          <p:cNvSpPr/>
          <p:nvPr/>
        </p:nvSpPr>
        <p:spPr>
          <a:xfrm>
            <a:off x="3383280" y="1920240"/>
            <a:ext cx="2423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A2332"/>
                </a:solidFill>
              </a:rPr>
              <a:t>El Modelo Aprende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3383280" y="2359152"/>
            <a:ext cx="24231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4748B"/>
                </a:solidFill>
              </a:rPr>
              <a:t>La IA analiza patrones en cientos de perfiles anteriores para entender qué combinaciones de respuestas llevan a qué carreras.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5971032" y="1399032"/>
            <a:ext cx="128016" cy="0"/>
          </a:xfrm>
          <a:prstGeom prst="line">
            <a:avLst/>
          </a:prstGeom>
          <a:noFill/>
          <a:ln w="12700">
            <a:solidFill>
              <a:srgbClr val="7BC043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4" name="Shape 22"/>
          <p:cNvSpPr/>
          <p:nvPr/>
        </p:nvSpPr>
        <p:spPr>
          <a:xfrm>
            <a:off x="6126480" y="749808"/>
            <a:ext cx="2697480" cy="3017520"/>
          </a:xfrm>
          <a:prstGeom prst="rect">
            <a:avLst/>
          </a:prstGeom>
          <a:solidFill>
            <a:srgbClr val="FFFFFF"/>
          </a:solidFill>
          <a:ln w="12700">
            <a:solidFill>
              <a:srgbClr val="7BC043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25" name="Shape 23"/>
          <p:cNvSpPr/>
          <p:nvPr/>
        </p:nvSpPr>
        <p:spPr>
          <a:xfrm>
            <a:off x="7274052" y="676656"/>
            <a:ext cx="402336" cy="402336"/>
          </a:xfrm>
          <a:prstGeom prst="ellipse">
            <a:avLst/>
          </a:prstGeom>
          <a:solidFill>
            <a:srgbClr val="7BC043"/>
          </a:solidFill>
          <a:ln w="12700">
            <a:solidFill>
              <a:srgbClr val="7BC043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6" name="Text 24"/>
          <p:cNvSpPr/>
          <p:nvPr/>
        </p:nvSpPr>
        <p:spPr>
          <a:xfrm>
            <a:off x="7274052" y="676656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3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7063740" y="1111504"/>
            <a:ext cx="822960" cy="822960"/>
          </a:xfrm>
          <a:prstGeom prst="ellipse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8" name="Text 26"/>
          <p:cNvSpPr/>
          <p:nvPr/>
        </p:nvSpPr>
        <p:spPr>
          <a:xfrm>
            <a:off x="7063740" y="96012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🏆</a:t>
            </a:r>
            <a:endParaRPr lang="en-US" sz="2400" dirty="0"/>
          </a:p>
        </p:txBody>
      </p:sp>
      <p:sp>
        <p:nvSpPr>
          <p:cNvPr id="29" name="Text 27"/>
          <p:cNvSpPr/>
          <p:nvPr/>
        </p:nvSpPr>
        <p:spPr>
          <a:xfrm>
            <a:off x="6263640" y="1920240"/>
            <a:ext cx="2423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A2332"/>
                </a:solidFill>
              </a:rPr>
              <a:t>Sugiere el Top-3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6263640" y="2359152"/>
            <a:ext cx="24231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64748B"/>
                </a:solidFill>
              </a:rPr>
              <a:t>Genera una lista personalizada con las 3 carreras más afines y calcula la probabilidad de éxito para cada una.</a:t>
            </a:r>
            <a:endParaRPr lang="en-US" sz="1200" b="1" dirty="0"/>
          </a:p>
        </p:txBody>
      </p:sp>
      <p:sp>
        <p:nvSpPr>
          <p:cNvPr id="31" name="Shape 29"/>
          <p:cNvSpPr/>
          <p:nvPr/>
        </p:nvSpPr>
        <p:spPr>
          <a:xfrm>
            <a:off x="365760" y="3886199"/>
            <a:ext cx="8412480" cy="689863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32" name="Text 30"/>
          <p:cNvSpPr/>
          <p:nvPr/>
        </p:nvSpPr>
        <p:spPr>
          <a:xfrm>
            <a:off x="502920" y="3950208"/>
            <a:ext cx="320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00000"/>
                </a:solidFill>
              </a:rPr>
              <a:t>💡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841248" y="3950208"/>
            <a:ext cx="77724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</a:rPr>
              <a:t>Similar a cómo Netflix te recomienda series basadas en lo que has visto, este sistema recomienda carreras basadas en quién eres.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132320" y="-274320"/>
            <a:ext cx="2286000" cy="2286000"/>
          </a:xfrm>
          <a:prstGeom prst="ellipse">
            <a:avLst/>
          </a:prstGeom>
          <a:solidFill>
            <a:srgbClr val="EBF7E0">
              <a:alpha val="50000"/>
            </a:srgbClr>
          </a:solidFill>
          <a:ln w="12700">
            <a:solidFill>
              <a:srgbClr val="EBF7E0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3" name="Shape 1"/>
          <p:cNvSpPr/>
          <p:nvPr/>
        </p:nvSpPr>
        <p:spPr>
          <a:xfrm>
            <a:off x="-457200" y="3200400"/>
            <a:ext cx="1828800" cy="1828800"/>
          </a:xfrm>
          <a:prstGeom prst="ellipse">
            <a:avLst/>
          </a:prstGeom>
          <a:solidFill>
            <a:srgbClr val="EBF7E0">
              <a:alpha val="40000"/>
            </a:srgbClr>
          </a:solidFill>
          <a:ln w="12700">
            <a:solidFill>
              <a:srgbClr val="EBF7E0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4" name="Text 2"/>
          <p:cNvSpPr/>
          <p:nvPr/>
        </p:nvSpPr>
        <p:spPr>
          <a:xfrm>
            <a:off x="228600" y="91440"/>
            <a:ext cx="640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7BC043"/>
                </a:solidFill>
              </a:rPr>
              <a:t>⚙⚙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822960" y="91440"/>
            <a:ext cx="6858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2332"/>
                </a:solidFill>
              </a:rPr>
              <a:t>Preparación de Datos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8503920" y="1097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94A3B8"/>
                </a:solidFill>
              </a:rPr>
              <a:t>08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22960" y="530352"/>
            <a:ext cx="6400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</a:rPr>
              <a:t>Cómo traducimos respuestas humanas a lenguaje de máquina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822960" y="768096"/>
            <a:ext cx="1280160" cy="45720"/>
          </a:xfrm>
          <a:prstGeom prst="rect">
            <a:avLst/>
          </a:prstGeom>
          <a:solidFill>
            <a:srgbClr val="7BC043"/>
          </a:solidFill>
          <a:ln w="12700">
            <a:solidFill>
              <a:srgbClr val="7BC043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9" name="Text 7"/>
          <p:cNvSpPr/>
          <p:nvPr/>
        </p:nvSpPr>
        <p:spPr>
          <a:xfrm>
            <a:off x="914400" y="91440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2332"/>
                </a:solidFill>
              </a:rPr>
              <a:t>Para que la IA aprenda, necesitamos convertir texto y opiniones en 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487416" y="91440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7BC043"/>
                </a:solidFill>
              </a:rPr>
              <a:t>patrones numéricos limpios.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8138160" y="914400"/>
            <a:ext cx="182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2332"/>
                </a:solidFill>
              </a:rPr>
              <a:t>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1234440" y="1417320"/>
            <a:ext cx="822960" cy="82296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3" name="Text 11"/>
          <p:cNvSpPr/>
          <p:nvPr/>
        </p:nvSpPr>
        <p:spPr>
          <a:xfrm>
            <a:off x="1234440" y="141732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🧹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2724912" y="1417320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94A3B8"/>
                </a:solidFill>
              </a:rPr>
              <a:t>1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2990088" y="1810512"/>
            <a:ext cx="18288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6" name="Text 14"/>
          <p:cNvSpPr/>
          <p:nvPr/>
        </p:nvSpPr>
        <p:spPr>
          <a:xfrm>
            <a:off x="365760" y="2359152"/>
            <a:ext cx="2560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A2332"/>
                </a:solidFill>
              </a:rPr>
              <a:t>Normalizar y Limpiar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365760" y="2688336"/>
            <a:ext cx="25603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64748B"/>
                </a:solidFill>
              </a:rPr>
              <a:t>Estandarizamos textos (mayúsculas, espacios) y agrupamos respuestas muy raras en una categoría "</a:t>
            </a:r>
            <a:r>
              <a:rPr lang="en-US" sz="1000" b="1" dirty="0" err="1">
                <a:solidFill>
                  <a:srgbClr val="64748B"/>
                </a:solidFill>
              </a:rPr>
              <a:t>Otros</a:t>
            </a:r>
            <a:r>
              <a:rPr lang="en-US" sz="1000" b="1" dirty="0">
                <a:solidFill>
                  <a:srgbClr val="64748B"/>
                </a:solidFill>
              </a:rPr>
              <a:t>".</a:t>
            </a:r>
            <a:endParaRPr lang="en-US" sz="1000" b="1" dirty="0"/>
          </a:p>
        </p:txBody>
      </p:sp>
      <p:sp>
        <p:nvSpPr>
          <p:cNvPr id="18" name="Shape 16"/>
          <p:cNvSpPr/>
          <p:nvPr/>
        </p:nvSpPr>
        <p:spPr>
          <a:xfrm>
            <a:off x="411480" y="3493008"/>
            <a:ext cx="2468880" cy="256032"/>
          </a:xfrm>
          <a:prstGeom prst="rect">
            <a:avLst/>
          </a:prstGeom>
          <a:solidFill>
            <a:srgbClr val="EBF7E0"/>
          </a:solidFill>
          <a:ln w="12700">
            <a:solidFill>
              <a:srgbClr val="7BC043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9" name="Text 17"/>
          <p:cNvSpPr/>
          <p:nvPr/>
        </p:nvSpPr>
        <p:spPr>
          <a:xfrm>
            <a:off x="411480" y="3493008"/>
            <a:ext cx="2468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7BC043"/>
                </a:solidFill>
              </a:rPr>
              <a:t>✅  Reduce ruido y confusión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041648" y="1417320"/>
            <a:ext cx="822960" cy="82296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1" name="Text 19"/>
          <p:cNvSpPr/>
          <p:nvPr/>
        </p:nvSpPr>
        <p:spPr>
          <a:xfrm>
            <a:off x="4041648" y="141732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⊞</a:t>
            </a:r>
            <a:endParaRPr lang="en-US" sz="2400" dirty="0"/>
          </a:p>
        </p:txBody>
      </p:sp>
      <p:sp>
        <p:nvSpPr>
          <p:cNvPr id="22" name="Text 20"/>
          <p:cNvSpPr/>
          <p:nvPr/>
        </p:nvSpPr>
        <p:spPr>
          <a:xfrm>
            <a:off x="5532120" y="1417320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94A3B8"/>
                </a:solidFill>
              </a:rPr>
              <a:t>2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5797296" y="1810512"/>
            <a:ext cx="18288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4" name="Text 22"/>
          <p:cNvSpPr/>
          <p:nvPr/>
        </p:nvSpPr>
        <p:spPr>
          <a:xfrm>
            <a:off x="3172968" y="2359152"/>
            <a:ext cx="2560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A2332"/>
                </a:solidFill>
              </a:rPr>
              <a:t>Convertir a Números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3172968" y="2688336"/>
            <a:ext cx="25603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64748B"/>
                </a:solidFill>
              </a:rPr>
              <a:t>Transformamos categorías (ej. "Remoto", "Híbrido") en columnas de 0 y 1 (One-Hot Encoding).</a:t>
            </a:r>
            <a:endParaRPr lang="en-US" sz="1000" b="1" dirty="0"/>
          </a:p>
        </p:txBody>
      </p:sp>
      <p:sp>
        <p:nvSpPr>
          <p:cNvPr id="26" name="Shape 24"/>
          <p:cNvSpPr/>
          <p:nvPr/>
        </p:nvSpPr>
        <p:spPr>
          <a:xfrm>
            <a:off x="3218688" y="3493008"/>
            <a:ext cx="2468880" cy="256032"/>
          </a:xfrm>
          <a:prstGeom prst="rect">
            <a:avLst/>
          </a:prstGeom>
          <a:solidFill>
            <a:srgbClr val="EBF7E0"/>
          </a:solidFill>
          <a:ln w="12700">
            <a:solidFill>
              <a:srgbClr val="7BC043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7" name="Text 25"/>
          <p:cNvSpPr/>
          <p:nvPr/>
        </p:nvSpPr>
        <p:spPr>
          <a:xfrm>
            <a:off x="3218688" y="3493008"/>
            <a:ext cx="2468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7BC043"/>
                </a:solidFill>
              </a:rPr>
              <a:t>✅  La IA solo entiende números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6848856" y="1417320"/>
            <a:ext cx="822960" cy="82296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9" name="Text 27"/>
          <p:cNvSpPr/>
          <p:nvPr/>
        </p:nvSpPr>
        <p:spPr>
          <a:xfrm>
            <a:off x="6848856" y="141732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🚫</a:t>
            </a:r>
            <a:endParaRPr lang="en-US" sz="2400" dirty="0"/>
          </a:p>
        </p:txBody>
      </p:sp>
      <p:sp>
        <p:nvSpPr>
          <p:cNvPr id="30" name="Text 28"/>
          <p:cNvSpPr/>
          <p:nvPr/>
        </p:nvSpPr>
        <p:spPr>
          <a:xfrm>
            <a:off x="8339328" y="1417320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94A3B8"/>
                </a:solidFill>
              </a:rPr>
              <a:t>3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5980176" y="2359152"/>
            <a:ext cx="2560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A2332"/>
                </a:solidFill>
              </a:rPr>
              <a:t>Excluir "Zip Code"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5980176" y="2688336"/>
            <a:ext cx="25603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64748B"/>
                </a:solidFill>
              </a:rPr>
              <a:t>Eliminamos el código postal porque hay casi tantos códigos distintos como personas (demasiado específico).</a:t>
            </a:r>
            <a:endParaRPr lang="en-US" sz="1000" b="1" dirty="0"/>
          </a:p>
        </p:txBody>
      </p:sp>
      <p:sp>
        <p:nvSpPr>
          <p:cNvPr id="33" name="Shape 31"/>
          <p:cNvSpPr/>
          <p:nvPr/>
        </p:nvSpPr>
        <p:spPr>
          <a:xfrm>
            <a:off x="6025896" y="3493008"/>
            <a:ext cx="2468880" cy="256032"/>
          </a:xfrm>
          <a:prstGeom prst="rect">
            <a:avLst/>
          </a:prstGeom>
          <a:solidFill>
            <a:srgbClr val="EBF7E0"/>
          </a:solidFill>
          <a:ln w="12700">
            <a:solidFill>
              <a:srgbClr val="7BC043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34" name="Text 32"/>
          <p:cNvSpPr/>
          <p:nvPr/>
        </p:nvSpPr>
        <p:spPr>
          <a:xfrm>
            <a:off x="6025896" y="3493008"/>
            <a:ext cx="2468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7BC043"/>
                </a:solidFill>
              </a:rPr>
              <a:t>✅  Evita aprender de memoria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365760" y="3913632"/>
            <a:ext cx="841248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7BC043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36" name="Shape 34"/>
          <p:cNvSpPr/>
          <p:nvPr/>
        </p:nvSpPr>
        <p:spPr>
          <a:xfrm>
            <a:off x="365760" y="3913632"/>
            <a:ext cx="54864" cy="777240"/>
          </a:xfrm>
          <a:prstGeom prst="rect">
            <a:avLst/>
          </a:prstGeom>
          <a:solidFill>
            <a:srgbClr val="7BC043"/>
          </a:solidFill>
          <a:ln w="12700">
            <a:solidFill>
              <a:srgbClr val="7BC043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37" name="Text 35"/>
          <p:cNvSpPr/>
          <p:nvPr/>
        </p:nvSpPr>
        <p:spPr>
          <a:xfrm>
            <a:off x="502920" y="3986784"/>
            <a:ext cx="365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00000"/>
                </a:solidFill>
              </a:rPr>
              <a:t>💡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896112" y="4041648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332"/>
                </a:solidFill>
              </a:rPr>
              <a:t>Resultado: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1810512" y="4041648"/>
            <a:ext cx="6766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</a:rPr>
              <a:t>Pasamos de respuestas de encuesta desordenadas a una matriz estructurada lista para entrenar el modelo predictivo.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28600" y="914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000000"/>
                </a:solidFill>
              </a:rPr>
              <a:t>📈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658368" y="91440"/>
            <a:ext cx="6858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A2332"/>
                </a:solidFill>
              </a:rPr>
              <a:t>Resultados: ¿Qué tan bien predice?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8503920" y="1097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94A3B8"/>
                </a:solidFill>
              </a:rPr>
              <a:t>09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58368" y="566928"/>
            <a:ext cx="1097280" cy="45720"/>
          </a:xfrm>
          <a:prstGeom prst="rect">
            <a:avLst/>
          </a:prstGeom>
          <a:solidFill>
            <a:srgbClr val="7BC043"/>
          </a:solidFill>
          <a:ln w="12700">
            <a:solidFill>
              <a:srgbClr val="7BC043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6" name="Text 4"/>
          <p:cNvSpPr/>
          <p:nvPr/>
        </p:nvSpPr>
        <p:spPr>
          <a:xfrm>
            <a:off x="228600" y="658368"/>
            <a:ext cx="8686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</a:rPr>
              <a:t>Evaluar un modelo que sugiere 3 opciones simultáneas requiere mirar más allá de la perfección absoluta.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</a:rPr>
              <a:t>Usamos tres métricas para entender la calidad real de las predicciones: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28600" y="1261872"/>
            <a:ext cx="2834640" cy="3108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8" name="Text 6"/>
          <p:cNvSpPr/>
          <p:nvPr/>
        </p:nvSpPr>
        <p:spPr>
          <a:xfrm>
            <a:off x="411480" y="1389888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1A2332"/>
                </a:solidFill>
              </a:rPr>
              <a:t>EXACT MATCH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11480" y="1691640"/>
            <a:ext cx="822960" cy="237744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0" name="Text 8"/>
          <p:cNvSpPr/>
          <p:nvPr/>
        </p:nvSpPr>
        <p:spPr>
          <a:xfrm>
            <a:off x="411480" y="1691640"/>
            <a:ext cx="8229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</a:rPr>
              <a:t>Muy Estricto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411480" y="2011680"/>
            <a:ext cx="21031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1A2332"/>
                </a:solidFill>
              </a:rPr>
              <a:t>0%</a:t>
            </a:r>
            <a:endParaRPr lang="en-US" sz="4400" dirty="0"/>
          </a:p>
        </p:txBody>
      </p:sp>
      <p:sp>
        <p:nvSpPr>
          <p:cNvPr id="12" name="Text 10"/>
          <p:cNvSpPr/>
          <p:nvPr/>
        </p:nvSpPr>
        <p:spPr>
          <a:xfrm>
            <a:off x="411480" y="2761488"/>
            <a:ext cx="24688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</a:rPr>
              <a:t>El "Perfeccionista":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11480" y="3017520"/>
            <a:ext cx="24688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</a:rPr>
              <a:t>Mide si el modelo adivinó las 3 carreras exactas sin ningún error. Si acierta 2 de 3, lo marca como falla total. Es normal que sea bajo en problemas complejos.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411480" y="3913632"/>
            <a:ext cx="2468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</a:rPr>
              <a:t>Ejemplo visual: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411480" y="4096512"/>
            <a:ext cx="2468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F4444"/>
                </a:solidFill>
              </a:rPr>
              <a:t>■■■ = Falla (0)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3172968" y="1261872"/>
            <a:ext cx="2834640" cy="3108960"/>
          </a:xfrm>
          <a:prstGeom prst="rect">
            <a:avLst/>
          </a:prstGeom>
          <a:solidFill>
            <a:srgbClr val="FFFFFF"/>
          </a:solidFill>
          <a:ln w="12700">
            <a:solidFill>
              <a:srgbClr val="7BC043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7" name="Text 15"/>
          <p:cNvSpPr/>
          <p:nvPr/>
        </p:nvSpPr>
        <p:spPr>
          <a:xfrm>
            <a:off x="3355848" y="1389888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1A2332"/>
                </a:solidFill>
              </a:rPr>
              <a:t>F1 SCORE (MICRO)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355848" y="1691640"/>
            <a:ext cx="822960" cy="237744"/>
          </a:xfrm>
          <a:prstGeom prst="rect">
            <a:avLst/>
          </a:prstGeom>
          <a:solidFill>
            <a:srgbClr val="EBF7E0"/>
          </a:solidFill>
          <a:ln w="12700">
            <a:solidFill>
              <a:srgbClr val="EBF7E0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9" name="Text 17"/>
          <p:cNvSpPr/>
          <p:nvPr/>
        </p:nvSpPr>
        <p:spPr>
          <a:xfrm>
            <a:off x="3355848" y="1691640"/>
            <a:ext cx="8229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7BC043"/>
                </a:solidFill>
              </a:rPr>
              <a:t>Señal Útil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3355848" y="2011680"/>
            <a:ext cx="21031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1A2332"/>
                </a:solidFill>
              </a:rPr>
              <a:t>37%</a:t>
            </a:r>
            <a:endParaRPr lang="en-US" sz="4400" dirty="0"/>
          </a:p>
        </p:txBody>
      </p:sp>
      <p:sp>
        <p:nvSpPr>
          <p:cNvPr id="21" name="Text 19"/>
          <p:cNvSpPr/>
          <p:nvPr/>
        </p:nvSpPr>
        <p:spPr>
          <a:xfrm>
            <a:off x="3355848" y="2761488"/>
            <a:ext cx="24688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</a:rPr>
              <a:t>La "Utilidad Real":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3355848" y="3017520"/>
            <a:ext cx="24688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</a:rPr>
              <a:t>Es el promedio de aciertos útiles. Indica que el sistema está encontrando patrones reales y superando al azar significativamente. Es nuestra métrica principal.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3355848" y="3913632"/>
            <a:ext cx="2468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</a:rPr>
              <a:t>Ejemplo visual: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3355848" y="4096512"/>
            <a:ext cx="2468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BC043"/>
                </a:solidFill>
              </a:rPr>
              <a:t>■■■ = Útil (0.66)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6117336" y="1261872"/>
            <a:ext cx="2834640" cy="3108960"/>
          </a:xfrm>
          <a:prstGeom prst="rect">
            <a:avLst/>
          </a:prstGeom>
          <a:solidFill>
            <a:srgbClr val="FFFFFF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6" name="Text 24"/>
          <p:cNvSpPr/>
          <p:nvPr/>
        </p:nvSpPr>
        <p:spPr>
          <a:xfrm>
            <a:off x="6300216" y="1389888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1A2332"/>
                </a:solidFill>
              </a:rPr>
              <a:t>JACCARD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6300216" y="1691640"/>
            <a:ext cx="822960" cy="237744"/>
          </a:xfrm>
          <a:prstGeom prst="rect">
            <a:avLst/>
          </a:prstGeom>
          <a:solidFill>
            <a:srgbClr val="EEF2FF"/>
          </a:solidFill>
          <a:ln w="12700">
            <a:solidFill>
              <a:srgbClr val="EEF2FF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8" name="Text 26"/>
          <p:cNvSpPr/>
          <p:nvPr/>
        </p:nvSpPr>
        <p:spPr>
          <a:xfrm>
            <a:off x="6300216" y="1691640"/>
            <a:ext cx="8229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B82F6"/>
                </a:solidFill>
              </a:rPr>
              <a:t>Similitud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6300216" y="2011680"/>
            <a:ext cx="21031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1A2332"/>
                </a:solidFill>
              </a:rPr>
              <a:t>22%</a:t>
            </a:r>
            <a:endParaRPr lang="en-US" sz="4400" dirty="0"/>
          </a:p>
        </p:txBody>
      </p:sp>
      <p:sp>
        <p:nvSpPr>
          <p:cNvPr id="30" name="Text 28"/>
          <p:cNvSpPr/>
          <p:nvPr/>
        </p:nvSpPr>
        <p:spPr>
          <a:xfrm>
            <a:off x="6300216" y="2761488"/>
            <a:ext cx="24688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</a:rPr>
              <a:t>La "Superposición":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6300216" y="3017520"/>
            <a:ext cx="24688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</a:rPr>
              <a:t>Mide cuánto se parece el grupo de carreras sugerido al real. Evalúa la intersección entre lo que el usuario quiere y lo que el modelo ofrece.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6300216" y="3913632"/>
            <a:ext cx="2468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</a:rPr>
              <a:t>Ejemplo visual: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6300216" y="4096512"/>
            <a:ext cx="2468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B82F6"/>
                </a:solidFill>
              </a:rPr>
              <a:t>■■■ = Coincidencia parcial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228600" y="4461379"/>
            <a:ext cx="8723376" cy="566928"/>
          </a:xfrm>
          <a:prstGeom prst="rect">
            <a:avLst/>
          </a:prstGeom>
          <a:solidFill>
            <a:srgbClr val="1A2332"/>
          </a:solidFill>
          <a:ln w="12700">
            <a:solidFill>
              <a:srgbClr val="1A2332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35" name="Text 33"/>
          <p:cNvSpPr/>
          <p:nvPr/>
        </p:nvSpPr>
        <p:spPr>
          <a:xfrm>
            <a:off x="365760" y="4462272"/>
            <a:ext cx="320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00000"/>
                </a:solidFill>
              </a:rPr>
              <a:t>💡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713232" y="4453128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Conclusión del Rendimiento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713232" y="4709160"/>
            <a:ext cx="7955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</a:rPr>
              <a:t>Aunque no tenemos una "bola de cristal" perfecta (0% exact match), el modelo captura tendencias claras (37% F1) que permiten orientar al usuario mucho mejor que una selección aleatoria.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28600" y="109728"/>
            <a:ext cx="54864" cy="457200"/>
          </a:xfrm>
          <a:prstGeom prst="rect">
            <a:avLst/>
          </a:prstGeom>
          <a:solidFill>
            <a:srgbClr val="7BC043"/>
          </a:solidFill>
          <a:ln w="12700">
            <a:solidFill>
              <a:srgbClr val="7BC043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3" name="Text 1"/>
          <p:cNvSpPr/>
          <p:nvPr/>
        </p:nvSpPr>
        <p:spPr>
          <a:xfrm>
            <a:off x="365760" y="109728"/>
            <a:ext cx="6858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A2332"/>
                </a:solidFill>
              </a:rPr>
              <a:t>Resultados: Impacto del Tuning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8503920" y="1097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94A3B8"/>
                </a:solidFill>
              </a:rPr>
              <a:t>10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228600" y="594360"/>
            <a:ext cx="9144000" cy="2286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6" name="Shape 4"/>
          <p:cNvSpPr/>
          <p:nvPr/>
        </p:nvSpPr>
        <p:spPr>
          <a:xfrm>
            <a:off x="228600" y="777240"/>
            <a:ext cx="411480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7BC043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7" name="Text 5"/>
          <p:cNvSpPr/>
          <p:nvPr/>
        </p:nvSpPr>
        <p:spPr>
          <a:xfrm>
            <a:off x="411480" y="868680"/>
            <a:ext cx="3749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kern="0" spc="100" dirty="0">
                <a:solidFill>
                  <a:srgbClr val="64748B"/>
                </a:solidFill>
              </a:rPr>
              <a:t>MEJORA DE PRECISIÓN GLOBAL (F1)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411480" y="1143000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</a:rPr>
              <a:t>Baseline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43200" y="1143000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</a:rPr>
              <a:t>Ajustado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11480" y="1417320"/>
            <a:ext cx="1188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64748B"/>
                </a:solidFill>
              </a:rPr>
              <a:t>0.367</a:t>
            </a:r>
            <a:endParaRPr lang="en-US" sz="3200" dirty="0"/>
          </a:p>
        </p:txBody>
      </p:sp>
      <p:sp>
        <p:nvSpPr>
          <p:cNvPr id="11" name="Shape 9"/>
          <p:cNvSpPr/>
          <p:nvPr/>
        </p:nvSpPr>
        <p:spPr>
          <a:xfrm>
            <a:off x="1828800" y="1508760"/>
            <a:ext cx="685800" cy="292608"/>
          </a:xfrm>
          <a:prstGeom prst="rect">
            <a:avLst/>
          </a:prstGeom>
          <a:solidFill>
            <a:srgbClr val="EBF7E0"/>
          </a:solidFill>
          <a:ln w="12700">
            <a:solidFill>
              <a:srgbClr val="7BC043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2" name="Text 10"/>
          <p:cNvSpPr/>
          <p:nvPr/>
        </p:nvSpPr>
        <p:spPr>
          <a:xfrm>
            <a:off x="1828800" y="1508760"/>
            <a:ext cx="685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7BC043"/>
                </a:solidFill>
              </a:rPr>
              <a:t>→  +0.040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2651760" y="1417320"/>
            <a:ext cx="1463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A2332"/>
                </a:solidFill>
              </a:rPr>
              <a:t>0.407</a:t>
            </a:r>
            <a:endParaRPr lang="en-US" sz="3600" dirty="0"/>
          </a:p>
        </p:txBody>
      </p:sp>
      <p:sp>
        <p:nvSpPr>
          <p:cNvPr id="14" name="Text 12"/>
          <p:cNvSpPr/>
          <p:nvPr/>
        </p:nvSpPr>
        <p:spPr>
          <a:xfrm>
            <a:off x="411480" y="1975104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BC043"/>
                </a:solidFill>
              </a:rPr>
              <a:t>✅  El modelo afinado captura mejor las sutilezas entre carreras similares.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228600" y="2788920"/>
            <a:ext cx="411480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6" name="Text 14"/>
          <p:cNvSpPr/>
          <p:nvPr/>
        </p:nvSpPr>
        <p:spPr>
          <a:xfrm>
            <a:off x="411480" y="2907792"/>
            <a:ext cx="2743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kern="0" spc="100" dirty="0">
                <a:solidFill>
                  <a:srgbClr val="64748B"/>
                </a:solidFill>
              </a:rPr>
              <a:t>EFECTIVIDAD DEL TOP-3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2560320" y="2907792"/>
            <a:ext cx="1554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</a:rPr>
              <a:t>Precision@3 / Recall@3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11480" y="3154680"/>
            <a:ext cx="2286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1A2332"/>
                </a:solidFill>
              </a:rPr>
              <a:t>36.9%</a:t>
            </a:r>
            <a:endParaRPr lang="en-US" sz="4400" dirty="0"/>
          </a:p>
        </p:txBody>
      </p:sp>
      <p:sp>
        <p:nvSpPr>
          <p:cNvPr id="19" name="Text 17"/>
          <p:cNvSpPr/>
          <p:nvPr/>
        </p:nvSpPr>
        <p:spPr>
          <a:xfrm>
            <a:off x="3474720" y="31546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000000"/>
                </a:solidFill>
              </a:rPr>
              <a:t>🎯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411480" y="379476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Porcentaje de carreras sugeridas que coinciden exactamente con las aspiraciones reales.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572000" y="749808"/>
            <a:ext cx="4389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2332"/>
                </a:solidFill>
              </a:rPr>
              <a:t>Comparativa de Rendimiento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4572000" y="1060704"/>
            <a:ext cx="4114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Modelo Inicial (Baseline) vs. Modelo Ajustado (Tuned)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7498080" y="1060704"/>
            <a:ext cx="822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</a:rPr>
              <a:t>⬤ Baseline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8092440" y="997609"/>
            <a:ext cx="1125132" cy="29900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BC043"/>
                </a:solidFill>
              </a:rPr>
              <a:t>⬤ Ajustado (Mejor)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4754880" y="1463040"/>
            <a:ext cx="0" cy="292608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6" name="Text 24"/>
          <p:cNvSpPr/>
          <p:nvPr/>
        </p:nvSpPr>
        <p:spPr>
          <a:xfrm>
            <a:off x="4251960" y="1956816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4A3B8"/>
                </a:solidFill>
              </a:rPr>
              <a:t>0.40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4754880" y="2048256"/>
            <a:ext cx="402336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8" name="Text 26"/>
          <p:cNvSpPr/>
          <p:nvPr/>
        </p:nvSpPr>
        <p:spPr>
          <a:xfrm>
            <a:off x="4251960" y="3127248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4A3B8"/>
                </a:solidFill>
              </a:rPr>
              <a:t>0.20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4754880" y="3218688"/>
            <a:ext cx="402336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30" name="Text 28"/>
          <p:cNvSpPr/>
          <p:nvPr/>
        </p:nvSpPr>
        <p:spPr>
          <a:xfrm>
            <a:off x="4251960" y="3712464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4A3B8"/>
                </a:solidFill>
              </a:rPr>
              <a:t>0.10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4754880" y="3803904"/>
            <a:ext cx="402336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32" name="Text 30"/>
          <p:cNvSpPr/>
          <p:nvPr/>
        </p:nvSpPr>
        <p:spPr>
          <a:xfrm>
            <a:off x="4251960" y="4297680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4A3B8"/>
                </a:solidFill>
              </a:rPr>
              <a:t>0.00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4754880" y="4389120"/>
            <a:ext cx="402336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34" name="Shape 32"/>
          <p:cNvSpPr/>
          <p:nvPr/>
        </p:nvSpPr>
        <p:spPr>
          <a:xfrm>
            <a:off x="5029200" y="2241377"/>
            <a:ext cx="502920" cy="2147743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35" name="Shape 33"/>
          <p:cNvSpPr/>
          <p:nvPr/>
        </p:nvSpPr>
        <p:spPr>
          <a:xfrm>
            <a:off x="5577840" y="2007291"/>
            <a:ext cx="502920" cy="2381829"/>
          </a:xfrm>
          <a:prstGeom prst="rect">
            <a:avLst/>
          </a:prstGeom>
          <a:solidFill>
            <a:srgbClr val="7BC043"/>
          </a:solidFill>
          <a:ln w="12700">
            <a:solidFill>
              <a:srgbClr val="7BC043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36" name="Text 34"/>
          <p:cNvSpPr/>
          <p:nvPr/>
        </p:nvSpPr>
        <p:spPr>
          <a:xfrm>
            <a:off x="4983480" y="4434840"/>
            <a:ext cx="1188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</a:rPr>
              <a:t>F1 Micro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6309360" y="2516429"/>
            <a:ext cx="502920" cy="1872691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38" name="Shape 36"/>
          <p:cNvSpPr/>
          <p:nvPr/>
        </p:nvSpPr>
        <p:spPr>
          <a:xfrm>
            <a:off x="6858000" y="2311603"/>
            <a:ext cx="502920" cy="2077517"/>
          </a:xfrm>
          <a:prstGeom prst="rect">
            <a:avLst/>
          </a:prstGeom>
          <a:solidFill>
            <a:srgbClr val="7BC043"/>
          </a:solidFill>
          <a:ln w="12700">
            <a:solidFill>
              <a:srgbClr val="7BC043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39" name="Text 37"/>
          <p:cNvSpPr/>
          <p:nvPr/>
        </p:nvSpPr>
        <p:spPr>
          <a:xfrm>
            <a:off x="6263640" y="4434840"/>
            <a:ext cx="1188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</a:rPr>
              <a:t>F1 BPO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7589520" y="3101645"/>
            <a:ext cx="502920" cy="1287475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41" name="Shape 39"/>
          <p:cNvSpPr/>
          <p:nvPr/>
        </p:nvSpPr>
        <p:spPr>
          <a:xfrm>
            <a:off x="8138160" y="2867558"/>
            <a:ext cx="502920" cy="1521562"/>
          </a:xfrm>
          <a:prstGeom prst="rect">
            <a:avLst/>
          </a:prstGeom>
          <a:solidFill>
            <a:srgbClr val="7BC043"/>
          </a:solidFill>
          <a:ln w="12700">
            <a:solidFill>
              <a:srgbClr val="7BC043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42" name="Text 40"/>
          <p:cNvSpPr/>
          <p:nvPr/>
        </p:nvSpPr>
        <p:spPr>
          <a:xfrm>
            <a:off x="7543800" y="4434840"/>
            <a:ext cx="1188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</a:rPr>
              <a:t>F1 IT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7955280" y="1554480"/>
            <a:ext cx="100584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44" name="Text 42"/>
          <p:cNvSpPr/>
          <p:nvPr/>
        </p:nvSpPr>
        <p:spPr>
          <a:xfrm>
            <a:off x="7973568" y="1609344"/>
            <a:ext cx="96926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kern="0" spc="50" dirty="0">
                <a:solidFill>
                  <a:srgbClr val="94A3B8"/>
                </a:solidFill>
              </a:rPr>
              <a:t>GANANCIA TOTAL</a:t>
            </a:r>
            <a:endParaRPr lang="en-US" sz="800" dirty="0"/>
          </a:p>
        </p:txBody>
      </p:sp>
      <p:sp>
        <p:nvSpPr>
          <p:cNvPr id="45" name="Text 43"/>
          <p:cNvSpPr/>
          <p:nvPr/>
        </p:nvSpPr>
        <p:spPr>
          <a:xfrm>
            <a:off x="7884861" y="1880273"/>
            <a:ext cx="110642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7BC043"/>
                </a:solidFill>
              </a:rPr>
              <a:t>+10.9%</a:t>
            </a:r>
            <a:endParaRPr lang="en-US" sz="2200" dirty="0"/>
          </a:p>
        </p:txBody>
      </p:sp>
      <p:sp>
        <p:nvSpPr>
          <p:cNvPr id="46" name="Text 44"/>
          <p:cNvSpPr/>
          <p:nvPr/>
        </p:nvSpPr>
        <p:spPr>
          <a:xfrm>
            <a:off x="7973568" y="2176272"/>
            <a:ext cx="969264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94A3B8"/>
                </a:solidFill>
              </a:rPr>
              <a:t>en F1 Micro</a:t>
            </a:r>
            <a:endParaRPr lang="en-US" sz="800" dirty="0"/>
          </a:p>
        </p:txBody>
      </p:sp>
    </p:spTree>
    <p:extLst>
      <p:ext uri="{BB962C8B-B14F-4D97-AF65-F5344CB8AC3E}">
        <p14:creationId xmlns:p14="http://schemas.microsoft.com/office/powerpoint/2010/main" val="755008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28600" y="109728"/>
            <a:ext cx="54864" cy="457200"/>
          </a:xfrm>
          <a:prstGeom prst="rect">
            <a:avLst/>
          </a:prstGeom>
          <a:solidFill>
            <a:srgbClr val="7BC043"/>
          </a:solidFill>
          <a:ln w="12700">
            <a:solidFill>
              <a:srgbClr val="7BC043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3" name="Text 1"/>
          <p:cNvSpPr/>
          <p:nvPr/>
        </p:nvSpPr>
        <p:spPr>
          <a:xfrm>
            <a:off x="365760" y="109728"/>
            <a:ext cx="6858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A2332"/>
                </a:solidFill>
              </a:rPr>
              <a:t>Resultados: Impacto del </a:t>
            </a:r>
            <a:r>
              <a:rPr lang="en-US" sz="2400" b="1" dirty="0" err="1">
                <a:solidFill>
                  <a:srgbClr val="1A2332"/>
                </a:solidFill>
              </a:rPr>
              <a:t>Ensamble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8503920" y="1097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94A3B8"/>
                </a:solidFill>
              </a:rPr>
              <a:t>11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228600" y="594360"/>
            <a:ext cx="9144000" cy="2286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6" name="Shape 4"/>
          <p:cNvSpPr/>
          <p:nvPr/>
        </p:nvSpPr>
        <p:spPr>
          <a:xfrm>
            <a:off x="228600" y="777240"/>
            <a:ext cx="411480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7BC043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7" name="Text 5"/>
          <p:cNvSpPr/>
          <p:nvPr/>
        </p:nvSpPr>
        <p:spPr>
          <a:xfrm>
            <a:off x="411480" y="868680"/>
            <a:ext cx="3749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kern="0" spc="100" dirty="0">
                <a:solidFill>
                  <a:srgbClr val="64748B"/>
                </a:solidFill>
              </a:rPr>
              <a:t>MEJORA DE PRECISIÓN GLOBAL (F1)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411480" y="1143000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</a:rPr>
              <a:t>Baseline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43200" y="1143000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</a:rPr>
              <a:t>Ajustado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11480" y="1417320"/>
            <a:ext cx="1188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64748B"/>
                </a:solidFill>
              </a:rPr>
              <a:t>0.367</a:t>
            </a:r>
            <a:endParaRPr lang="en-US" sz="3200" dirty="0"/>
          </a:p>
        </p:txBody>
      </p:sp>
      <p:sp>
        <p:nvSpPr>
          <p:cNvPr id="11" name="Shape 9"/>
          <p:cNvSpPr/>
          <p:nvPr/>
        </p:nvSpPr>
        <p:spPr>
          <a:xfrm>
            <a:off x="1828800" y="1508760"/>
            <a:ext cx="685800" cy="292608"/>
          </a:xfrm>
          <a:prstGeom prst="rect">
            <a:avLst/>
          </a:prstGeom>
          <a:solidFill>
            <a:srgbClr val="EBF7E0"/>
          </a:solidFill>
          <a:ln w="12700">
            <a:solidFill>
              <a:srgbClr val="7BC043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2" name="Text 10"/>
          <p:cNvSpPr/>
          <p:nvPr/>
        </p:nvSpPr>
        <p:spPr>
          <a:xfrm>
            <a:off x="1828800" y="1508760"/>
            <a:ext cx="685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7BC043"/>
                </a:solidFill>
              </a:rPr>
              <a:t>→  -0.037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2651760" y="1417320"/>
            <a:ext cx="1463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A2332"/>
                </a:solidFill>
              </a:rPr>
              <a:t>0.33</a:t>
            </a:r>
            <a:endParaRPr lang="en-US" sz="3600" dirty="0"/>
          </a:p>
        </p:txBody>
      </p:sp>
      <p:sp>
        <p:nvSpPr>
          <p:cNvPr id="14" name="Text 12"/>
          <p:cNvSpPr/>
          <p:nvPr/>
        </p:nvSpPr>
        <p:spPr>
          <a:xfrm>
            <a:off x="411480" y="1975104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BC043"/>
                </a:solidFill>
              </a:rPr>
              <a:t>✅  El modelo de </a:t>
            </a:r>
            <a:r>
              <a:rPr lang="en-US" sz="950" dirty="0" err="1">
                <a:solidFill>
                  <a:srgbClr val="7BC043"/>
                </a:solidFill>
              </a:rPr>
              <a:t>ensamble</a:t>
            </a:r>
            <a:r>
              <a:rPr lang="en-US" sz="950" dirty="0">
                <a:solidFill>
                  <a:srgbClr val="7BC043"/>
                </a:solidFill>
              </a:rPr>
              <a:t> no captura mejor las sutilezas entre carreras similares.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228600" y="2788920"/>
            <a:ext cx="411480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6" name="Text 14"/>
          <p:cNvSpPr/>
          <p:nvPr/>
        </p:nvSpPr>
        <p:spPr>
          <a:xfrm>
            <a:off x="411480" y="2907792"/>
            <a:ext cx="2743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kern="0" spc="100" dirty="0">
                <a:solidFill>
                  <a:srgbClr val="64748B"/>
                </a:solidFill>
              </a:rPr>
              <a:t>EFECTIVIDAD DEL TOP-3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2560320" y="2907792"/>
            <a:ext cx="1554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</a:rPr>
              <a:t>Precision@3 / Recall@3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11480" y="3154680"/>
            <a:ext cx="2286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1A2332"/>
                </a:solidFill>
              </a:rPr>
              <a:t>31,9%</a:t>
            </a:r>
            <a:endParaRPr lang="en-US" sz="4400" dirty="0"/>
          </a:p>
        </p:txBody>
      </p:sp>
      <p:sp>
        <p:nvSpPr>
          <p:cNvPr id="19" name="Text 17"/>
          <p:cNvSpPr/>
          <p:nvPr/>
        </p:nvSpPr>
        <p:spPr>
          <a:xfrm>
            <a:off x="3474720" y="31546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000000"/>
                </a:solidFill>
              </a:rPr>
              <a:t>🎯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411480" y="379476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Porcentaje de carreras sugeridas que coinciden exactamente con las aspiraciones reales.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572000" y="749808"/>
            <a:ext cx="4389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2332"/>
                </a:solidFill>
              </a:rPr>
              <a:t>Comparativa de Rendimiento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4572000" y="1060704"/>
            <a:ext cx="4114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Modelo Inicial (Baseline) vs. Modelo de </a:t>
            </a:r>
            <a:r>
              <a:rPr lang="en-US" sz="1000" dirty="0" err="1">
                <a:solidFill>
                  <a:srgbClr val="64748B"/>
                </a:solidFill>
              </a:rPr>
              <a:t>Ensamble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7360920" y="1060704"/>
            <a:ext cx="822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</a:rPr>
              <a:t>⬤ Baseline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7941354" y="992448"/>
            <a:ext cx="124836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BC043"/>
                </a:solidFill>
              </a:rPr>
              <a:t>⬤ </a:t>
            </a:r>
            <a:r>
              <a:rPr lang="en-US" sz="900" dirty="0" err="1">
                <a:solidFill>
                  <a:srgbClr val="7BC043"/>
                </a:solidFill>
              </a:rPr>
              <a:t>Ensamble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4754880" y="1463040"/>
            <a:ext cx="0" cy="292608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6" name="Text 24"/>
          <p:cNvSpPr/>
          <p:nvPr/>
        </p:nvSpPr>
        <p:spPr>
          <a:xfrm>
            <a:off x="4251960" y="1956816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4A3B8"/>
                </a:solidFill>
              </a:rPr>
              <a:t>0.40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4754880" y="2048256"/>
            <a:ext cx="402336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8" name="Text 26"/>
          <p:cNvSpPr/>
          <p:nvPr/>
        </p:nvSpPr>
        <p:spPr>
          <a:xfrm>
            <a:off x="4251960" y="3127248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4A3B8"/>
                </a:solidFill>
              </a:rPr>
              <a:t>0.20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4754880" y="3218688"/>
            <a:ext cx="402336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30" name="Text 28"/>
          <p:cNvSpPr/>
          <p:nvPr/>
        </p:nvSpPr>
        <p:spPr>
          <a:xfrm>
            <a:off x="4251960" y="3712464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4A3B8"/>
                </a:solidFill>
              </a:rPr>
              <a:t>0.10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4754880" y="3803904"/>
            <a:ext cx="402336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32" name="Text 30"/>
          <p:cNvSpPr/>
          <p:nvPr/>
        </p:nvSpPr>
        <p:spPr>
          <a:xfrm>
            <a:off x="4251960" y="4297680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4A3B8"/>
                </a:solidFill>
              </a:rPr>
              <a:t>0.00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4754880" y="4389120"/>
            <a:ext cx="402336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34" name="Shape 32"/>
          <p:cNvSpPr/>
          <p:nvPr/>
        </p:nvSpPr>
        <p:spPr>
          <a:xfrm>
            <a:off x="5029200" y="2241377"/>
            <a:ext cx="502920" cy="2147743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35" name="Shape 33"/>
          <p:cNvSpPr/>
          <p:nvPr/>
        </p:nvSpPr>
        <p:spPr>
          <a:xfrm>
            <a:off x="5577840" y="2359152"/>
            <a:ext cx="548640" cy="2029968"/>
          </a:xfrm>
          <a:prstGeom prst="rect">
            <a:avLst/>
          </a:prstGeom>
          <a:solidFill>
            <a:srgbClr val="7BC043"/>
          </a:solidFill>
          <a:ln w="12700">
            <a:solidFill>
              <a:srgbClr val="7BC043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36" name="Text 34"/>
          <p:cNvSpPr/>
          <p:nvPr/>
        </p:nvSpPr>
        <p:spPr>
          <a:xfrm>
            <a:off x="4983480" y="4434840"/>
            <a:ext cx="1188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</a:rPr>
              <a:t>F1 Micro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6309360" y="2516429"/>
            <a:ext cx="502920" cy="1872691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38" name="Shape 36"/>
          <p:cNvSpPr/>
          <p:nvPr/>
        </p:nvSpPr>
        <p:spPr>
          <a:xfrm>
            <a:off x="6858000" y="2633473"/>
            <a:ext cx="502920" cy="1755647"/>
          </a:xfrm>
          <a:prstGeom prst="rect">
            <a:avLst/>
          </a:prstGeom>
          <a:solidFill>
            <a:srgbClr val="7BC043"/>
          </a:solidFill>
          <a:ln w="12700">
            <a:solidFill>
              <a:srgbClr val="7BC043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39" name="Text 37"/>
          <p:cNvSpPr/>
          <p:nvPr/>
        </p:nvSpPr>
        <p:spPr>
          <a:xfrm>
            <a:off x="6263640" y="4434840"/>
            <a:ext cx="1188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</a:rPr>
              <a:t>F1 BPO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7589520" y="3101645"/>
            <a:ext cx="502920" cy="1287475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41" name="Shape 39"/>
          <p:cNvSpPr/>
          <p:nvPr/>
        </p:nvSpPr>
        <p:spPr>
          <a:xfrm>
            <a:off x="8138160" y="3154680"/>
            <a:ext cx="502920" cy="1234440"/>
          </a:xfrm>
          <a:prstGeom prst="rect">
            <a:avLst/>
          </a:prstGeom>
          <a:solidFill>
            <a:srgbClr val="7BC043"/>
          </a:solidFill>
          <a:ln w="12700">
            <a:solidFill>
              <a:srgbClr val="7BC043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42" name="Text 40"/>
          <p:cNvSpPr/>
          <p:nvPr/>
        </p:nvSpPr>
        <p:spPr>
          <a:xfrm>
            <a:off x="7543800" y="4434840"/>
            <a:ext cx="1188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</a:rPr>
              <a:t>F1 IT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7955280" y="1554480"/>
            <a:ext cx="100584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44" name="Text 42"/>
          <p:cNvSpPr/>
          <p:nvPr/>
        </p:nvSpPr>
        <p:spPr>
          <a:xfrm>
            <a:off x="7973568" y="1609344"/>
            <a:ext cx="96926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kern="0" spc="50" dirty="0">
                <a:solidFill>
                  <a:srgbClr val="94A3B8"/>
                </a:solidFill>
              </a:rPr>
              <a:t>PERDODA TOTAL</a:t>
            </a:r>
            <a:endParaRPr lang="en-US" sz="800" dirty="0"/>
          </a:p>
        </p:txBody>
      </p:sp>
      <p:sp>
        <p:nvSpPr>
          <p:cNvPr id="45" name="Text 43"/>
          <p:cNvSpPr/>
          <p:nvPr/>
        </p:nvSpPr>
        <p:spPr>
          <a:xfrm>
            <a:off x="7884861" y="1880273"/>
            <a:ext cx="110642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7BC043"/>
                </a:solidFill>
              </a:rPr>
              <a:t>-0.8%</a:t>
            </a:r>
            <a:endParaRPr lang="en-US" sz="2200" dirty="0"/>
          </a:p>
        </p:txBody>
      </p:sp>
      <p:sp>
        <p:nvSpPr>
          <p:cNvPr id="46" name="Text 44"/>
          <p:cNvSpPr/>
          <p:nvPr/>
        </p:nvSpPr>
        <p:spPr>
          <a:xfrm>
            <a:off x="7973568" y="2176272"/>
            <a:ext cx="969264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94A3B8"/>
                </a:solidFill>
              </a:rPr>
              <a:t>en F1 Micro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28600" y="914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000000"/>
                </a:solidFill>
              </a:rPr>
              <a:t>🖥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658368" y="91440"/>
            <a:ext cx="6858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2332"/>
                </a:solidFill>
              </a:rPr>
              <a:t>Demo del Sistema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8503920" y="1097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94A3B8"/>
                </a:solidFill>
              </a:rPr>
              <a:t>12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228600" y="576072"/>
            <a:ext cx="9144000" cy="2286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6" name="Shape 4"/>
          <p:cNvSpPr/>
          <p:nvPr/>
        </p:nvSpPr>
        <p:spPr>
          <a:xfrm>
            <a:off x="228600" y="749808"/>
            <a:ext cx="384048" cy="384048"/>
          </a:xfrm>
          <a:prstGeom prst="ellipse">
            <a:avLst/>
          </a:prstGeom>
          <a:solidFill>
            <a:srgbClr val="7BC043"/>
          </a:solidFill>
          <a:ln w="12700">
            <a:solidFill>
              <a:srgbClr val="7BC043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7" name="Text 5"/>
          <p:cNvSpPr/>
          <p:nvPr/>
        </p:nvSpPr>
        <p:spPr>
          <a:xfrm>
            <a:off x="228600" y="74980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76656" y="777240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2332"/>
                </a:solidFill>
              </a:rPr>
              <a:t>Ingresa tus preferencias (Input)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228600" y="1207008"/>
            <a:ext cx="4160520" cy="2880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0" name="Text 8"/>
          <p:cNvSpPr/>
          <p:nvPr/>
        </p:nvSpPr>
        <p:spPr>
          <a:xfrm>
            <a:off x="411480" y="1298448"/>
            <a:ext cx="3749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</a:rPr>
              <a:t>País de residencia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11480" y="1499616"/>
            <a:ext cx="3749040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2" name="Text 10"/>
          <p:cNvSpPr/>
          <p:nvPr/>
        </p:nvSpPr>
        <p:spPr>
          <a:xfrm>
            <a:off x="548640" y="1517904"/>
            <a:ext cx="3383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</a:rPr>
              <a:t>India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840480" y="1517904"/>
            <a:ext cx="274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94A3B8"/>
                </a:solidFill>
              </a:rPr>
              <a:t>∨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11480" y="1892808"/>
            <a:ext cx="3749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</a:rPr>
              <a:t>Estilo de trabajo preferido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411480" y="2093976"/>
            <a:ext cx="3749040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6" name="Text 14"/>
          <p:cNvSpPr/>
          <p:nvPr/>
        </p:nvSpPr>
        <p:spPr>
          <a:xfrm>
            <a:off x="548640" y="2112264"/>
            <a:ext cx="3383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</a:rPr>
              <a:t>Híbrido (Oficina + Casa)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840480" y="2112264"/>
            <a:ext cx="274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94A3B8"/>
                </a:solidFill>
              </a:rPr>
              <a:t>∨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11480" y="2487168"/>
            <a:ext cx="3749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</a:rPr>
              <a:t>¿Te motiva una misión social?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411480" y="2688336"/>
            <a:ext cx="3749040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0" name="Text 18"/>
          <p:cNvSpPr/>
          <p:nvPr/>
        </p:nvSpPr>
        <p:spPr>
          <a:xfrm>
            <a:off x="548640" y="2706624"/>
            <a:ext cx="3383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</a:rPr>
              <a:t>Sí, es prioritario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840480" y="2706624"/>
            <a:ext cx="274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94A3B8"/>
                </a:solidFill>
              </a:rPr>
              <a:t>∨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411480" y="3081528"/>
            <a:ext cx="3749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</a:rPr>
              <a:t>Tipo de aprendizaje ideal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411480" y="3282696"/>
            <a:ext cx="3749040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4" name="Text 22"/>
          <p:cNvSpPr/>
          <p:nvPr/>
        </p:nvSpPr>
        <p:spPr>
          <a:xfrm>
            <a:off x="548640" y="3300984"/>
            <a:ext cx="3383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</a:rPr>
              <a:t>Práctico con mentoría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3840480" y="3300984"/>
            <a:ext cx="274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94A3B8"/>
                </a:solidFill>
              </a:rPr>
              <a:t>∨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1645920" y="374904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</a:rPr>
              <a:t>+ 9 preguntas más...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228600" y="4160520"/>
            <a:ext cx="4160520" cy="777240"/>
          </a:xfrm>
          <a:prstGeom prst="rect">
            <a:avLst/>
          </a:prstGeom>
          <a:solidFill>
            <a:srgbClr val="1A2332"/>
          </a:solidFill>
          <a:ln w="12700">
            <a:solidFill>
              <a:srgbClr val="1A2332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8" name="Shape 26"/>
          <p:cNvSpPr/>
          <p:nvPr/>
        </p:nvSpPr>
        <p:spPr>
          <a:xfrm>
            <a:off x="3291840" y="4133088"/>
            <a:ext cx="1005840" cy="22860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9" name="Text 27"/>
          <p:cNvSpPr/>
          <p:nvPr/>
        </p:nvSpPr>
        <p:spPr>
          <a:xfrm>
            <a:off x="3291840" y="4133088"/>
            <a:ext cx="1005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</a:rPr>
              <a:t>Para Desarrolladores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365760" y="4206240"/>
            <a:ext cx="3886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Endpoint para integración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POST https://api-genz-demo.ngrok-free.app/predict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Content-Type: application/json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4480560" y="2468880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94A3B8"/>
                </a:solidFill>
              </a:rPr>
              <a:t>»»</a:t>
            </a:r>
            <a:endParaRPr lang="en-US" sz="2200" dirty="0"/>
          </a:p>
        </p:txBody>
      </p:sp>
      <p:sp>
        <p:nvSpPr>
          <p:cNvPr id="32" name="Shape 30"/>
          <p:cNvSpPr/>
          <p:nvPr/>
        </p:nvSpPr>
        <p:spPr>
          <a:xfrm>
            <a:off x="5120640" y="749808"/>
            <a:ext cx="384048" cy="384048"/>
          </a:xfrm>
          <a:prstGeom prst="ellipse">
            <a:avLst/>
          </a:prstGeom>
          <a:solidFill>
            <a:srgbClr val="7BC043"/>
          </a:solidFill>
          <a:ln w="12700">
            <a:solidFill>
              <a:srgbClr val="7BC043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33" name="Text 31"/>
          <p:cNvSpPr/>
          <p:nvPr/>
        </p:nvSpPr>
        <p:spPr>
          <a:xfrm>
            <a:off x="5120640" y="74980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2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5559552" y="777240"/>
            <a:ext cx="3383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2332"/>
                </a:solidFill>
              </a:rPr>
              <a:t>Recibe tu predicción (Output)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5120640" y="1207008"/>
            <a:ext cx="3840480" cy="960120"/>
          </a:xfrm>
          <a:prstGeom prst="rect">
            <a:avLst/>
          </a:prstGeom>
          <a:solidFill>
            <a:srgbClr val="EBF7E0"/>
          </a:solidFill>
          <a:ln w="12700">
            <a:solidFill>
              <a:srgbClr val="EBF7E0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36" name="Shape 34"/>
          <p:cNvSpPr/>
          <p:nvPr/>
        </p:nvSpPr>
        <p:spPr>
          <a:xfrm>
            <a:off x="6492240" y="1261872"/>
            <a:ext cx="502920" cy="502920"/>
          </a:xfrm>
          <a:prstGeom prst="ellipse">
            <a:avLst/>
          </a:prstGeom>
          <a:solidFill>
            <a:srgbClr val="7BC043"/>
          </a:solidFill>
          <a:ln w="12700">
            <a:solidFill>
              <a:srgbClr val="7BC043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37" name="Text 35"/>
          <p:cNvSpPr/>
          <p:nvPr/>
        </p:nvSpPr>
        <p:spPr>
          <a:xfrm>
            <a:off x="6492240" y="126187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👤</a:t>
            </a:r>
            <a:endParaRPr lang="en-US" sz="1800" dirty="0"/>
          </a:p>
        </p:txBody>
      </p:sp>
      <p:sp>
        <p:nvSpPr>
          <p:cNvPr id="38" name="Text 36"/>
          <p:cNvSpPr/>
          <p:nvPr/>
        </p:nvSpPr>
        <p:spPr>
          <a:xfrm>
            <a:off x="5120640" y="1764792"/>
            <a:ext cx="38404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5AA832"/>
                </a:solidFill>
              </a:rPr>
              <a:t>Perfil: Innovador Social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5120640" y="2011680"/>
            <a:ext cx="3840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</a:rPr>
              <a:t>Basado en tus 13 respuestas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5120640" y="2286000"/>
            <a:ext cx="3840480" cy="2606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41" name="Text 39"/>
          <p:cNvSpPr/>
          <p:nvPr/>
        </p:nvSpPr>
        <p:spPr>
          <a:xfrm>
            <a:off x="5303520" y="2359152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</a:rPr>
              <a:t>Top-3 Carreras Recomendadas: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5212080" y="2788920"/>
            <a:ext cx="25603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E2E8F0"/>
                </a:solidFill>
              </a:rPr>
              <a:t>1</a:t>
            </a:r>
            <a:endParaRPr lang="en-US" sz="2200" dirty="0"/>
          </a:p>
        </p:txBody>
      </p:sp>
      <p:sp>
        <p:nvSpPr>
          <p:cNvPr id="43" name="Text 41"/>
          <p:cNvSpPr/>
          <p:nvPr/>
        </p:nvSpPr>
        <p:spPr>
          <a:xfrm>
            <a:off x="5532120" y="274320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332"/>
                </a:solidFill>
              </a:rPr>
              <a:t>Project Management</a:t>
            </a:r>
            <a:endParaRPr lang="en-US" sz="1300" dirty="0"/>
          </a:p>
        </p:txBody>
      </p:sp>
      <p:sp>
        <p:nvSpPr>
          <p:cNvPr id="44" name="Text 42"/>
          <p:cNvSpPr/>
          <p:nvPr/>
        </p:nvSpPr>
        <p:spPr>
          <a:xfrm>
            <a:off x="5532120" y="2999232"/>
            <a:ext cx="2560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Gestión de Proyectos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8138160" y="2743200"/>
            <a:ext cx="640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7BC043"/>
                </a:solidFill>
              </a:rPr>
              <a:t>92%</a:t>
            </a:r>
            <a:endParaRPr lang="en-US" sz="1400" dirty="0"/>
          </a:p>
        </p:txBody>
      </p:sp>
      <p:sp>
        <p:nvSpPr>
          <p:cNvPr id="46" name="Text 44"/>
          <p:cNvSpPr/>
          <p:nvPr/>
        </p:nvSpPr>
        <p:spPr>
          <a:xfrm>
            <a:off x="8138160" y="2999232"/>
            <a:ext cx="640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</a:rPr>
              <a:t>Afinidad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5303520" y="3246120"/>
            <a:ext cx="34747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48" name="Text 46"/>
          <p:cNvSpPr/>
          <p:nvPr/>
        </p:nvSpPr>
        <p:spPr>
          <a:xfrm>
            <a:off x="5212080" y="3410712"/>
            <a:ext cx="25603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E2E8F0"/>
                </a:solidFill>
              </a:rPr>
              <a:t>2</a:t>
            </a:r>
            <a:endParaRPr lang="en-US" sz="2200" dirty="0"/>
          </a:p>
        </p:txBody>
      </p:sp>
      <p:sp>
        <p:nvSpPr>
          <p:cNvPr id="49" name="Text 47"/>
          <p:cNvSpPr/>
          <p:nvPr/>
        </p:nvSpPr>
        <p:spPr>
          <a:xfrm>
            <a:off x="5532120" y="3364992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2332"/>
                </a:solidFill>
              </a:rPr>
              <a:t>Data &amp; Insights</a:t>
            </a:r>
            <a:endParaRPr lang="en-US" sz="1300" dirty="0"/>
          </a:p>
        </p:txBody>
      </p:sp>
      <p:sp>
        <p:nvSpPr>
          <p:cNvPr id="50" name="Text 48"/>
          <p:cNvSpPr/>
          <p:nvPr/>
        </p:nvSpPr>
        <p:spPr>
          <a:xfrm>
            <a:off x="5532120" y="3621024"/>
            <a:ext cx="2560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Análisis de Datos</a:t>
            </a:r>
            <a:endParaRPr lang="en-US" sz="1000" dirty="0"/>
          </a:p>
        </p:txBody>
      </p:sp>
      <p:sp>
        <p:nvSpPr>
          <p:cNvPr id="51" name="Text 49"/>
          <p:cNvSpPr/>
          <p:nvPr/>
        </p:nvSpPr>
        <p:spPr>
          <a:xfrm>
            <a:off x="8138160" y="3364992"/>
            <a:ext cx="640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7BC043"/>
                </a:solidFill>
              </a:rPr>
              <a:t>78%</a:t>
            </a:r>
            <a:endParaRPr lang="en-US" sz="1400" dirty="0"/>
          </a:p>
        </p:txBody>
      </p:sp>
      <p:sp>
        <p:nvSpPr>
          <p:cNvPr id="52" name="Text 50"/>
          <p:cNvSpPr/>
          <p:nvPr/>
        </p:nvSpPr>
        <p:spPr>
          <a:xfrm>
            <a:off x="8138160" y="3621024"/>
            <a:ext cx="640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</a:rPr>
              <a:t>Afinidad</a:t>
            </a:r>
            <a:endParaRPr lang="en-US" sz="900" dirty="0"/>
          </a:p>
        </p:txBody>
      </p:sp>
      <p:sp>
        <p:nvSpPr>
          <p:cNvPr id="53" name="Shape 51"/>
          <p:cNvSpPr/>
          <p:nvPr/>
        </p:nvSpPr>
        <p:spPr>
          <a:xfrm>
            <a:off x="5303520" y="3867912"/>
            <a:ext cx="34747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54" name="Text 52"/>
          <p:cNvSpPr/>
          <p:nvPr/>
        </p:nvSpPr>
        <p:spPr>
          <a:xfrm>
            <a:off x="5212080" y="4032504"/>
            <a:ext cx="25603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E2E8F0"/>
                </a:solidFill>
              </a:rPr>
              <a:t>3</a:t>
            </a:r>
            <a:endParaRPr lang="en-US" sz="2200" dirty="0"/>
          </a:p>
        </p:txBody>
      </p:sp>
      <p:sp>
        <p:nvSpPr>
          <p:cNvPr id="55" name="Text 53"/>
          <p:cNvSpPr/>
          <p:nvPr/>
        </p:nvSpPr>
        <p:spPr>
          <a:xfrm>
            <a:off x="5532120" y="3986784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2332"/>
                </a:solidFill>
              </a:rPr>
              <a:t>Team Leadership</a:t>
            </a:r>
            <a:endParaRPr lang="en-US" sz="1300" dirty="0"/>
          </a:p>
        </p:txBody>
      </p:sp>
      <p:sp>
        <p:nvSpPr>
          <p:cNvPr id="56" name="Text 54"/>
          <p:cNvSpPr/>
          <p:nvPr/>
        </p:nvSpPr>
        <p:spPr>
          <a:xfrm>
            <a:off x="5532120" y="4242816"/>
            <a:ext cx="2560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Liderazgo de Equipos</a:t>
            </a:r>
            <a:endParaRPr lang="en-US" sz="1000" dirty="0"/>
          </a:p>
        </p:txBody>
      </p:sp>
      <p:sp>
        <p:nvSpPr>
          <p:cNvPr id="57" name="Text 55"/>
          <p:cNvSpPr/>
          <p:nvPr/>
        </p:nvSpPr>
        <p:spPr>
          <a:xfrm>
            <a:off x="8138160" y="3986784"/>
            <a:ext cx="640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7BC043"/>
                </a:solidFill>
              </a:rPr>
              <a:t>65%</a:t>
            </a:r>
            <a:endParaRPr lang="en-US" sz="1400" dirty="0"/>
          </a:p>
        </p:txBody>
      </p:sp>
      <p:sp>
        <p:nvSpPr>
          <p:cNvPr id="58" name="Text 56"/>
          <p:cNvSpPr/>
          <p:nvPr/>
        </p:nvSpPr>
        <p:spPr>
          <a:xfrm>
            <a:off x="8138160" y="4242816"/>
            <a:ext cx="640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</a:rPr>
              <a:t>Afinidad</a:t>
            </a:r>
            <a:endParaRPr lang="en-US" sz="900" dirty="0"/>
          </a:p>
        </p:txBody>
      </p:sp>
      <p:sp>
        <p:nvSpPr>
          <p:cNvPr id="59" name="Shape 57"/>
          <p:cNvSpPr/>
          <p:nvPr/>
        </p:nvSpPr>
        <p:spPr>
          <a:xfrm>
            <a:off x="5120640" y="4617720"/>
            <a:ext cx="384048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60" name="Text 58"/>
          <p:cNvSpPr/>
          <p:nvPr/>
        </p:nvSpPr>
        <p:spPr>
          <a:xfrm>
            <a:off x="5120640" y="4617720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B82F6"/>
                </a:solidFill>
              </a:rPr>
              <a:t>↗  Probar Demo en Vivo (Click Aquí)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B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28600" y="914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F59E0B"/>
                </a:solidFill>
              </a:rPr>
              <a:t>⚠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658368" y="91440"/>
            <a:ext cx="6858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2332"/>
                </a:solidFill>
              </a:rPr>
              <a:t>Limitaciones del Modelo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8503920" y="1097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94A3B8"/>
                </a:solidFill>
              </a:rPr>
              <a:t>13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58368" y="566928"/>
            <a:ext cx="914400" cy="457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6" name="Text 4"/>
          <p:cNvSpPr/>
          <p:nvPr/>
        </p:nvSpPr>
        <p:spPr>
          <a:xfrm>
            <a:off x="228600" y="658368"/>
            <a:ext cx="8686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</a:rPr>
              <a:t>Para usar esta herramienta de manera responsable, es crucial entender qué NO puede hacer y dónde están sus puntos ciegos actuales.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28600" y="1115568"/>
            <a:ext cx="2834640" cy="1755648"/>
          </a:xfrm>
          <a:prstGeom prst="rect">
            <a:avLst/>
          </a:prstGeom>
          <a:solidFill>
            <a:srgbClr val="FFF5F5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8" name="Shape 6"/>
          <p:cNvSpPr/>
          <p:nvPr/>
        </p:nvSpPr>
        <p:spPr>
          <a:xfrm>
            <a:off x="393192" y="1207008"/>
            <a:ext cx="457200" cy="457200"/>
          </a:xfrm>
          <a:prstGeom prst="ellipse">
            <a:avLst/>
          </a:prstGeom>
          <a:solidFill>
            <a:srgbClr val="EF4444">
              <a:alpha val="20000"/>
            </a:srgbClr>
          </a:solidFill>
          <a:ln w="12700">
            <a:solidFill>
              <a:srgbClr val="EF4444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9" name="Text 7"/>
          <p:cNvSpPr/>
          <p:nvPr/>
        </p:nvSpPr>
        <p:spPr>
          <a:xfrm>
            <a:off x="393192" y="120700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</a:rPr>
              <a:t>🗄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914400" y="1225296"/>
            <a:ext cx="2029968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332"/>
                </a:solidFill>
              </a:rPr>
              <a:t>Volumen de Datos Reducido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93192" y="1691640"/>
            <a:ext cx="25603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</a:rPr>
              <a:t>Solo contamos con 235 encuestas. Esto es muy poco para un modelo de IA robusto, lo que genera alta variabilidad en las predicciones.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172968" y="1115568"/>
            <a:ext cx="2834640" cy="1755648"/>
          </a:xfrm>
          <a:prstGeom prst="rect">
            <a:avLst/>
          </a:prstGeom>
          <a:solidFill>
            <a:srgbClr val="FFF5F5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3" name="Shape 11"/>
          <p:cNvSpPr/>
          <p:nvPr/>
        </p:nvSpPr>
        <p:spPr>
          <a:xfrm>
            <a:off x="3337560" y="1207008"/>
            <a:ext cx="457200" cy="457200"/>
          </a:xfrm>
          <a:prstGeom prst="ellipse">
            <a:avLst/>
          </a:prstGeom>
          <a:solidFill>
            <a:srgbClr val="EF4444">
              <a:alpha val="20000"/>
            </a:srgbClr>
          </a:solidFill>
          <a:ln w="12700">
            <a:solidFill>
              <a:srgbClr val="EF4444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4" name="Text 12"/>
          <p:cNvSpPr/>
          <p:nvPr/>
        </p:nvSpPr>
        <p:spPr>
          <a:xfrm>
            <a:off x="3337560" y="120700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</a:rPr>
              <a:t>🌐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3858768" y="1225296"/>
            <a:ext cx="2029968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332"/>
                </a:solidFill>
              </a:rPr>
              <a:t>Sesgo Geográfico (India)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337560" y="1691640"/>
            <a:ext cx="25603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</a:rPr>
              <a:t>La gran mayoría de los datos provienen de India. Las predicciones podrían no funcionar igual de bien para jóvenes de Europa o América Latina.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6117336" y="1115568"/>
            <a:ext cx="2834640" cy="1755648"/>
          </a:xfrm>
          <a:prstGeom prst="rect">
            <a:avLst/>
          </a:prstGeom>
          <a:solidFill>
            <a:srgbClr val="FFFBE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8" name="Shape 16"/>
          <p:cNvSpPr/>
          <p:nvPr/>
        </p:nvSpPr>
        <p:spPr>
          <a:xfrm>
            <a:off x="6281928" y="1207008"/>
            <a:ext cx="457200" cy="457200"/>
          </a:xfrm>
          <a:prstGeom prst="ellipse">
            <a:avLst/>
          </a:prstGeom>
          <a:solidFill>
            <a:srgbClr val="F59E0B">
              <a:alpha val="20000"/>
            </a:srgbClr>
          </a:solidFill>
          <a:ln w="12700">
            <a:solidFill>
              <a:srgbClr val="F59E0B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9" name="Text 17"/>
          <p:cNvSpPr/>
          <p:nvPr/>
        </p:nvSpPr>
        <p:spPr>
          <a:xfrm>
            <a:off x="6281928" y="120700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</a:rPr>
              <a:t>⚖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6803136" y="1225296"/>
            <a:ext cx="2029968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332"/>
                </a:solidFill>
              </a:rPr>
              <a:t>Carreras Minoritarias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281928" y="1691640"/>
            <a:ext cx="25603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</a:rPr>
              <a:t>El modelo es experto en carreras populares (Data, IT) pero tiene dificultades para predecir opciones raras como "BPO" o "Content Creator" por falta de ejemplos.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228600" y="2999232"/>
            <a:ext cx="4251960" cy="1508760"/>
          </a:xfrm>
          <a:prstGeom prst="rect">
            <a:avLst/>
          </a:prstGeom>
          <a:solidFill>
            <a:srgbClr val="FFFBE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3" name="Shape 21"/>
          <p:cNvSpPr/>
          <p:nvPr/>
        </p:nvSpPr>
        <p:spPr>
          <a:xfrm>
            <a:off x="393192" y="3090672"/>
            <a:ext cx="457200" cy="457200"/>
          </a:xfrm>
          <a:prstGeom prst="ellipse">
            <a:avLst/>
          </a:prstGeom>
          <a:solidFill>
            <a:srgbClr val="F59E0B">
              <a:alpha val="20000"/>
            </a:srgbClr>
          </a:solidFill>
          <a:ln w="12700">
            <a:solidFill>
              <a:srgbClr val="F59E0B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4" name="Text 22"/>
          <p:cNvSpPr/>
          <p:nvPr/>
        </p:nvSpPr>
        <p:spPr>
          <a:xfrm>
            <a:off x="393192" y="309067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</a:rPr>
              <a:t>⊟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914400" y="310896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332"/>
                </a:solidFill>
              </a:rPr>
              <a:t>La "Perfección" Engaña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393192" y="3493008"/>
            <a:ext cx="39319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</a:rPr>
              <a:t>Que el "Exact Match" sea 0% no significa que el modelo sea inútil. Simplemente es casi imposible adivinar las 3 opciones exactas siempre; el valor real está en las sugerencias parciales.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4663440" y="2999232"/>
            <a:ext cx="4251960" cy="1508760"/>
          </a:xfrm>
          <a:prstGeom prst="rect">
            <a:avLst/>
          </a:prstGeom>
          <a:solidFill>
            <a:srgbClr val="FFFBE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8" name="Shape 26"/>
          <p:cNvSpPr/>
          <p:nvPr/>
        </p:nvSpPr>
        <p:spPr>
          <a:xfrm>
            <a:off x="4828032" y="3090672"/>
            <a:ext cx="457200" cy="457200"/>
          </a:xfrm>
          <a:prstGeom prst="ellipse">
            <a:avLst/>
          </a:prstGeom>
          <a:solidFill>
            <a:srgbClr val="F59E0B">
              <a:alpha val="20000"/>
            </a:srgbClr>
          </a:solidFill>
          <a:ln w="12700">
            <a:solidFill>
              <a:srgbClr val="F59E0B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9" name="Text 27"/>
          <p:cNvSpPr/>
          <p:nvPr/>
        </p:nvSpPr>
        <p:spPr>
          <a:xfrm>
            <a:off x="4828032" y="309067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</a:rPr>
              <a:t>📍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5349240" y="310896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332"/>
                </a:solidFill>
              </a:rPr>
              <a:t>Sin Señal Hiper-Local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4828032" y="3493008"/>
            <a:ext cx="39319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</a:rPr>
              <a:t>Excluimos deliberadamente el Código Postal (Zip Code). Perdemos matices locales, pero evitamos que el modelo memorice ubicaciones en lugar de aprender patrones reales.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228600" y="4736592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4748B"/>
                </a:solidFill>
              </a:rPr>
              <a:t>ℹ  Transparencia: Estas limitaciones son comunes en pruebas de concepto (PoC) y marcan la hoja de ruta para futuras mejoras.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28600" y="914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7BC043"/>
                </a:solidFill>
              </a:rPr>
              <a:t>⇄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658368" y="91440"/>
            <a:ext cx="6858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2332"/>
                </a:solidFill>
              </a:rPr>
              <a:t>Próximos Pasos y Roadmap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8503920" y="1097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94A3B8"/>
                </a:solidFill>
              </a:rPr>
              <a:t>14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228600" y="576072"/>
            <a:ext cx="9144000" cy="2286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6" name="Shape 4"/>
          <p:cNvSpPr/>
          <p:nvPr/>
        </p:nvSpPr>
        <p:spPr>
          <a:xfrm>
            <a:off x="228600" y="859536"/>
            <a:ext cx="384048" cy="38404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BC043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7" name="Text 5"/>
          <p:cNvSpPr/>
          <p:nvPr/>
        </p:nvSpPr>
        <p:spPr>
          <a:xfrm>
            <a:off x="228600" y="859536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7BC043"/>
                </a:solidFill>
              </a:rPr>
              <a:t>1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20624" y="1243584"/>
            <a:ext cx="0" cy="411480"/>
          </a:xfrm>
          <a:prstGeom prst="line">
            <a:avLst/>
          </a:prstGeom>
          <a:noFill/>
          <a:ln w="12700">
            <a:solidFill>
              <a:srgbClr val="7BC043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9" name="Shape 7"/>
          <p:cNvSpPr/>
          <p:nvPr/>
        </p:nvSpPr>
        <p:spPr>
          <a:xfrm>
            <a:off x="749808" y="749808"/>
            <a:ext cx="813816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50800" dist="12700" dir="81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10" name="Text 8"/>
          <p:cNvSpPr/>
          <p:nvPr/>
        </p:nvSpPr>
        <p:spPr>
          <a:xfrm>
            <a:off x="914400" y="841248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332"/>
                </a:solidFill>
              </a:rPr>
              <a:t>Recolectar más datos y balancear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120640" y="859536"/>
            <a:ext cx="1188720" cy="228600"/>
          </a:xfrm>
          <a:prstGeom prst="rect">
            <a:avLst/>
          </a:prstGeom>
          <a:solidFill>
            <a:srgbClr val="EF4444">
              <a:alpha val="15000"/>
            </a:srgbClr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2" name="Text 10"/>
          <p:cNvSpPr/>
          <p:nvPr/>
        </p:nvSpPr>
        <p:spPr>
          <a:xfrm>
            <a:off x="5120640" y="859536"/>
            <a:ext cx="1188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EF4444"/>
                </a:solidFill>
              </a:rPr>
              <a:t>ALTA PRIORIDAD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914400" y="1152144"/>
            <a:ext cx="6949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Aumentar la muestra (n&gt;1000) y conseguir más ejemplos de carreras minoritarias como "BPO" o "Content Creator" para reducir el sesgo.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28600" y="1682496"/>
            <a:ext cx="384048" cy="38404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BC043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5" name="Text 13"/>
          <p:cNvSpPr/>
          <p:nvPr/>
        </p:nvSpPr>
        <p:spPr>
          <a:xfrm>
            <a:off x="228600" y="1682496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7BC043"/>
                </a:solidFill>
              </a:rPr>
              <a:t>2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20624" y="2066544"/>
            <a:ext cx="0" cy="411480"/>
          </a:xfrm>
          <a:prstGeom prst="line">
            <a:avLst/>
          </a:prstGeom>
          <a:noFill/>
          <a:ln w="12700">
            <a:solidFill>
              <a:srgbClr val="7BC043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7" name="Shape 15"/>
          <p:cNvSpPr/>
          <p:nvPr/>
        </p:nvSpPr>
        <p:spPr>
          <a:xfrm>
            <a:off x="749808" y="1572768"/>
            <a:ext cx="813816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50800" dist="12700" dir="81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18" name="Text 16"/>
          <p:cNvSpPr/>
          <p:nvPr/>
        </p:nvSpPr>
        <p:spPr>
          <a:xfrm>
            <a:off x="914400" y="1664208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332"/>
                </a:solidFill>
              </a:rPr>
              <a:t>Validación Robusta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5120640" y="1682496"/>
            <a:ext cx="1188720" cy="228600"/>
          </a:xfrm>
          <a:prstGeom prst="rect">
            <a:avLst/>
          </a:prstGeom>
          <a:solidFill>
            <a:srgbClr val="EF4444">
              <a:alpha val="15000"/>
            </a:srgbClr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0" name="Text 18"/>
          <p:cNvSpPr/>
          <p:nvPr/>
        </p:nvSpPr>
        <p:spPr>
          <a:xfrm>
            <a:off x="5120640" y="1682496"/>
            <a:ext cx="1188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EF4444"/>
                </a:solidFill>
              </a:rPr>
              <a:t>ALTA PRIORIDAD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914400" y="1975104"/>
            <a:ext cx="6949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Implementar Cross-Validation para asegurar que el modelo no dependa de un solo grupo de prueba y sea estable ante datos nuevos.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228600" y="2505456"/>
            <a:ext cx="384048" cy="38404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BC043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3" name="Text 21"/>
          <p:cNvSpPr/>
          <p:nvPr/>
        </p:nvSpPr>
        <p:spPr>
          <a:xfrm>
            <a:off x="228600" y="2505456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7BC043"/>
                </a:solidFill>
              </a:rPr>
              <a:t>3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420624" y="2889504"/>
            <a:ext cx="0" cy="411480"/>
          </a:xfrm>
          <a:prstGeom prst="line">
            <a:avLst/>
          </a:prstGeom>
          <a:noFill/>
          <a:ln w="12700">
            <a:solidFill>
              <a:srgbClr val="7BC043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5" name="Shape 23"/>
          <p:cNvSpPr/>
          <p:nvPr/>
        </p:nvSpPr>
        <p:spPr>
          <a:xfrm>
            <a:off x="749808" y="2395728"/>
            <a:ext cx="813816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50800" dist="12700" dir="81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26" name="Text 24"/>
          <p:cNvSpPr/>
          <p:nvPr/>
        </p:nvSpPr>
        <p:spPr>
          <a:xfrm>
            <a:off x="914400" y="2487168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332"/>
                </a:solidFill>
              </a:rPr>
              <a:t>Manejo de Alta Cardinalidad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5120640" y="2505456"/>
            <a:ext cx="1188720" cy="228600"/>
          </a:xfrm>
          <a:prstGeom prst="rect">
            <a:avLst/>
          </a:prstGeom>
          <a:solidFill>
            <a:srgbClr val="F59E0B">
              <a:alpha val="15000"/>
            </a:srgbClr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8" name="Text 26"/>
          <p:cNvSpPr/>
          <p:nvPr/>
        </p:nvSpPr>
        <p:spPr>
          <a:xfrm>
            <a:off x="5120640" y="2505456"/>
            <a:ext cx="1188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59E0B"/>
                </a:solidFill>
              </a:rPr>
              <a:t>MEDIA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914400" y="2798064"/>
            <a:ext cx="6949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Incorporar información geográfica ("Zip Code") de forma inteligente, agrupando por regiones en lugar de excluirla por completo.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228600" y="3328416"/>
            <a:ext cx="384048" cy="38404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BC043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31" name="Text 29"/>
          <p:cNvSpPr/>
          <p:nvPr/>
        </p:nvSpPr>
        <p:spPr>
          <a:xfrm>
            <a:off x="228600" y="3328416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7BC043"/>
                </a:solidFill>
              </a:rPr>
              <a:t>4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420624" y="3712464"/>
            <a:ext cx="0" cy="411480"/>
          </a:xfrm>
          <a:prstGeom prst="line">
            <a:avLst/>
          </a:prstGeom>
          <a:noFill/>
          <a:ln w="12700">
            <a:solidFill>
              <a:srgbClr val="7BC043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33" name="Shape 31"/>
          <p:cNvSpPr/>
          <p:nvPr/>
        </p:nvSpPr>
        <p:spPr>
          <a:xfrm>
            <a:off x="749808" y="3218688"/>
            <a:ext cx="813816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50800" dist="12700" dir="81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34" name="Text 32"/>
          <p:cNvSpPr/>
          <p:nvPr/>
        </p:nvSpPr>
        <p:spPr>
          <a:xfrm>
            <a:off x="914400" y="3310128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332"/>
                </a:solidFill>
              </a:rPr>
              <a:t>Enfoques Multilabel Alternativos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5120640" y="3328416"/>
            <a:ext cx="1188720" cy="228600"/>
          </a:xfrm>
          <a:prstGeom prst="rect">
            <a:avLst/>
          </a:prstGeom>
          <a:solidFill>
            <a:srgbClr val="F59E0B">
              <a:alpha val="15000"/>
            </a:srgbClr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36" name="Text 34"/>
          <p:cNvSpPr/>
          <p:nvPr/>
        </p:nvSpPr>
        <p:spPr>
          <a:xfrm>
            <a:off x="5120640" y="3328416"/>
            <a:ext cx="1188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59E0B"/>
                </a:solidFill>
              </a:rPr>
              <a:t>MEDIA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914400" y="3621024"/>
            <a:ext cx="6949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Probar técnicas avanzadas como "Classifier Chains" que aprenden la relación entre etiquetas (ej. si te gusta Software, quizás también Data).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228600" y="4151376"/>
            <a:ext cx="384048" cy="38404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BC043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39" name="Text 37"/>
          <p:cNvSpPr/>
          <p:nvPr/>
        </p:nvSpPr>
        <p:spPr>
          <a:xfrm>
            <a:off x="228600" y="4151376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7BC043"/>
                </a:solidFill>
              </a:rPr>
              <a:t>5</a:t>
            </a:r>
            <a:endParaRPr lang="en-US" sz="1400" dirty="0"/>
          </a:p>
        </p:txBody>
      </p:sp>
      <p:sp>
        <p:nvSpPr>
          <p:cNvPr id="40" name="Shape 38"/>
          <p:cNvSpPr/>
          <p:nvPr/>
        </p:nvSpPr>
        <p:spPr>
          <a:xfrm>
            <a:off x="749808" y="4041648"/>
            <a:ext cx="813816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50800" dist="12700" dir="81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41" name="Text 39"/>
          <p:cNvSpPr/>
          <p:nvPr/>
        </p:nvSpPr>
        <p:spPr>
          <a:xfrm>
            <a:off x="914400" y="4133088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332"/>
                </a:solidFill>
              </a:rPr>
              <a:t>Monitoreo en Producción</a:t>
            </a:r>
            <a:endParaRPr lang="en-US" sz="1300" dirty="0"/>
          </a:p>
        </p:txBody>
      </p:sp>
      <p:sp>
        <p:nvSpPr>
          <p:cNvPr id="42" name="Shape 40"/>
          <p:cNvSpPr/>
          <p:nvPr/>
        </p:nvSpPr>
        <p:spPr>
          <a:xfrm>
            <a:off x="5120640" y="4151376"/>
            <a:ext cx="1188720" cy="228600"/>
          </a:xfrm>
          <a:prstGeom prst="rect">
            <a:avLst/>
          </a:prstGeom>
          <a:solidFill>
            <a:srgbClr val="3B82F6">
              <a:alpha val="15000"/>
            </a:srgbClr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43" name="Text 41"/>
          <p:cNvSpPr/>
          <p:nvPr/>
        </p:nvSpPr>
        <p:spPr>
          <a:xfrm>
            <a:off x="5120640" y="4151376"/>
            <a:ext cx="1188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3B82F6"/>
                </a:solidFill>
              </a:rPr>
              <a:t>FUTURO</a:t>
            </a:r>
            <a:endParaRPr lang="en-US" sz="800" dirty="0"/>
          </a:p>
        </p:txBody>
      </p:sp>
      <p:sp>
        <p:nvSpPr>
          <p:cNvPr id="44" name="Text 42"/>
          <p:cNvSpPr/>
          <p:nvPr/>
        </p:nvSpPr>
        <p:spPr>
          <a:xfrm>
            <a:off x="914400" y="4443984"/>
            <a:ext cx="6949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Vigilar si cambian las preferencias generacionales con el tiempo para re-entrenar el modelo y mantenerlo vigente.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28600" y="914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000000"/>
                </a:solidFill>
              </a:rPr>
              <a:t>🏁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658368" y="9144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2332"/>
                </a:solidFill>
              </a:rPr>
              <a:t>Conclusiones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8503920" y="1097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>
                <a:solidFill>
                  <a:srgbClr val="94A3B8"/>
                </a:solidFill>
              </a:rPr>
              <a:t>15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228600" y="576072"/>
            <a:ext cx="9144000" cy="2286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6" name="Text 4"/>
          <p:cNvSpPr/>
          <p:nvPr/>
        </p:nvSpPr>
        <p:spPr>
          <a:xfrm>
            <a:off x="228600" y="713232"/>
            <a:ext cx="4114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64748B"/>
                </a:solidFill>
              </a:rPr>
              <a:t>LOGROS DEL PROYECTO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28600" y="896112"/>
            <a:ext cx="466344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8" name="Shape 6"/>
          <p:cNvSpPr/>
          <p:nvPr/>
        </p:nvSpPr>
        <p:spPr>
          <a:xfrm>
            <a:off x="228600" y="1005840"/>
            <a:ext cx="50292" cy="685800"/>
          </a:xfrm>
          <a:prstGeom prst="rect">
            <a:avLst/>
          </a:prstGeom>
          <a:solidFill>
            <a:srgbClr val="7BC043"/>
          </a:solidFill>
          <a:ln w="12700">
            <a:solidFill>
              <a:srgbClr val="7BC043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9" name="Shape 7"/>
          <p:cNvSpPr/>
          <p:nvPr/>
        </p:nvSpPr>
        <p:spPr>
          <a:xfrm>
            <a:off x="347472" y="1097280"/>
            <a:ext cx="411480" cy="411480"/>
          </a:xfrm>
          <a:prstGeom prst="ellipse">
            <a:avLst/>
          </a:prstGeom>
          <a:solidFill>
            <a:srgbClr val="EBF7E0"/>
          </a:solidFill>
          <a:ln w="12700">
            <a:solidFill>
              <a:srgbClr val="EBF7E0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0" name="Text 8"/>
          <p:cNvSpPr/>
          <p:nvPr/>
        </p:nvSpPr>
        <p:spPr>
          <a:xfrm>
            <a:off x="347472" y="109728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</a:rPr>
              <a:t>🗂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822960" y="1051560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332"/>
                </a:solidFill>
              </a:rPr>
              <a:t>Modelo Multilabel Eficaz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822960" y="132588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Desarrollamos una solución capaz de sugerir 3 carreras simultáneas alineadas a los valores y preferencias del usuario, superando la complejidad del desbalance de datos.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28600" y="1920240"/>
            <a:ext cx="50292" cy="685800"/>
          </a:xfrm>
          <a:prstGeom prst="rect">
            <a:avLst/>
          </a:prstGeom>
          <a:solidFill>
            <a:srgbClr val="7BC043"/>
          </a:solidFill>
          <a:ln w="12700">
            <a:solidFill>
              <a:srgbClr val="7BC043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4" name="Shape 12"/>
          <p:cNvSpPr/>
          <p:nvPr/>
        </p:nvSpPr>
        <p:spPr>
          <a:xfrm>
            <a:off x="347472" y="2011680"/>
            <a:ext cx="411480" cy="411480"/>
          </a:xfrm>
          <a:prstGeom prst="ellipse">
            <a:avLst/>
          </a:prstGeom>
          <a:solidFill>
            <a:srgbClr val="EBF7E0"/>
          </a:solidFill>
          <a:ln w="12700">
            <a:solidFill>
              <a:srgbClr val="EBF7E0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5" name="Text 13"/>
          <p:cNvSpPr/>
          <p:nvPr/>
        </p:nvSpPr>
        <p:spPr>
          <a:xfrm>
            <a:off x="347472" y="201168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</a:rPr>
              <a:t>📈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822960" y="1965960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332"/>
                </a:solidFill>
              </a:rPr>
              <a:t>Mejora Cuantificable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822960" y="224028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Tras el proceso de tuning y ajuste de hiperparámetros, incrementamos el F1 Score de 0.367 a 0.407, validando la calidad de las predicciones.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228600" y="2834640"/>
            <a:ext cx="50292" cy="685800"/>
          </a:xfrm>
          <a:prstGeom prst="rect">
            <a:avLst/>
          </a:prstGeom>
          <a:solidFill>
            <a:srgbClr val="7BC043"/>
          </a:solidFill>
          <a:ln w="12700">
            <a:solidFill>
              <a:srgbClr val="7BC043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9" name="Shape 17"/>
          <p:cNvSpPr/>
          <p:nvPr/>
        </p:nvSpPr>
        <p:spPr>
          <a:xfrm>
            <a:off x="347472" y="2926080"/>
            <a:ext cx="411480" cy="411480"/>
          </a:xfrm>
          <a:prstGeom prst="ellipse">
            <a:avLst/>
          </a:prstGeom>
          <a:solidFill>
            <a:srgbClr val="EBF7E0"/>
          </a:solidFill>
          <a:ln w="12700">
            <a:solidFill>
              <a:srgbClr val="EBF7E0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0" name="Text 18"/>
          <p:cNvSpPr/>
          <p:nvPr/>
        </p:nvSpPr>
        <p:spPr>
          <a:xfrm>
            <a:off x="347472" y="292608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</a:rPr>
              <a:t>⚙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822960" y="2880360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332"/>
                </a:solidFill>
              </a:rPr>
              <a:t>Pipeline Reproducible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822960" y="315468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Implementamos un flujo de trabajo automatizado (limpieza → transformación → modelado) que asegura consistencia y facilita el mantenimiento futuro.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228600" y="3749040"/>
            <a:ext cx="50292" cy="685800"/>
          </a:xfrm>
          <a:prstGeom prst="rect">
            <a:avLst/>
          </a:prstGeom>
          <a:solidFill>
            <a:srgbClr val="7BC043"/>
          </a:solidFill>
          <a:ln w="12700">
            <a:solidFill>
              <a:srgbClr val="7BC043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4" name="Shape 22"/>
          <p:cNvSpPr/>
          <p:nvPr/>
        </p:nvSpPr>
        <p:spPr>
          <a:xfrm>
            <a:off x="347472" y="3840480"/>
            <a:ext cx="411480" cy="411480"/>
          </a:xfrm>
          <a:prstGeom prst="ellipse">
            <a:avLst/>
          </a:prstGeom>
          <a:solidFill>
            <a:srgbClr val="EBF7E0"/>
          </a:solidFill>
          <a:ln w="12700">
            <a:solidFill>
              <a:srgbClr val="EBF7E0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5" name="Text 23"/>
          <p:cNvSpPr/>
          <p:nvPr/>
        </p:nvSpPr>
        <p:spPr>
          <a:xfrm>
            <a:off x="347472" y="384048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</a:rPr>
              <a:t>🖥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822960" y="3794760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332"/>
                </a:solidFill>
              </a:rPr>
              <a:t>Demo Funcional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822960" y="406908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Entregamos una API lista para ser consumida, demostrando no solo la teoría del modelo, sino su aplicabilidad práctica inmediata.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937760" y="914400"/>
            <a:ext cx="4023360" cy="3108960"/>
          </a:xfrm>
          <a:prstGeom prst="rect">
            <a:avLst/>
          </a:prstGeom>
          <a:solidFill>
            <a:srgbClr val="1A2332"/>
          </a:solidFill>
          <a:ln w="12700">
            <a:solidFill>
              <a:srgbClr val="1A2332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9" name="Text 27"/>
          <p:cNvSpPr/>
          <p:nvPr/>
        </p:nvSpPr>
        <p:spPr>
          <a:xfrm>
            <a:off x="5120640" y="1005840"/>
            <a:ext cx="731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7BC043"/>
                </a:solidFill>
              </a:rPr>
              <a:t>"</a:t>
            </a:r>
            <a:endParaRPr lang="en-US" sz="4800" dirty="0"/>
          </a:p>
        </p:txBody>
      </p:sp>
      <p:sp>
        <p:nvSpPr>
          <p:cNvPr id="30" name="Text 28"/>
          <p:cNvSpPr/>
          <p:nvPr/>
        </p:nvSpPr>
        <p:spPr>
          <a:xfrm>
            <a:off x="5120640" y="1600200"/>
            <a:ext cx="365760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"Hemos creado más que un modelo predictivo; es una herramienta de apoyo para orientar el talento de la Generación Z basándonos en datos reales, no solo en intuición."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5120640" y="3401568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</a:rPr>
              <a:t>Proyecto 7 — Bootcamp Ciencia de Datos e IA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4937760" y="4160520"/>
            <a:ext cx="4023360" cy="658368"/>
          </a:xfrm>
          <a:prstGeom prst="rect">
            <a:avLst/>
          </a:prstGeom>
          <a:solidFill>
            <a:srgbClr val="EBF7E0"/>
          </a:solidFill>
          <a:ln w="12700">
            <a:solidFill>
              <a:srgbClr val="7BC043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33" name="Text 31"/>
          <p:cNvSpPr/>
          <p:nvPr/>
        </p:nvSpPr>
        <p:spPr>
          <a:xfrm>
            <a:off x="5166360" y="4224528"/>
            <a:ext cx="3200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kern="0" spc="100" dirty="0">
                <a:solidFill>
                  <a:srgbClr val="5AA832"/>
                </a:solidFill>
              </a:rPr>
              <a:t>PRÓXIMA ACCIÓN INMEDIATA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5166360" y="4425696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2332"/>
                </a:solidFill>
              </a:rPr>
              <a:t>Entrega Final en GitHub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8458200" y="4251960"/>
            <a:ext cx="411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1A2332"/>
                </a:solidFill>
              </a:rPr>
              <a:t>⚙</a:t>
            </a:r>
            <a:endParaRPr lang="en-US" sz="2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96</TotalTime>
  <Words>2026</Words>
  <Application>Microsoft Office PowerPoint</Application>
  <PresentationFormat>Presentación en pantalla (16:9)</PresentationFormat>
  <Paragraphs>406</Paragraphs>
  <Slides>15</Slides>
  <Notes>15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15</vt:i4>
      </vt:variant>
    </vt:vector>
  </HeadingPairs>
  <TitlesOfParts>
    <vt:vector size="19" baseType="lpstr">
      <vt:lpstr>Arial</vt:lpstr>
      <vt:lpstr>Calibri</vt:lpstr>
      <vt:lpstr>Courier New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Beatriz Jerez Izquierdo</cp:lastModifiedBy>
  <cp:revision>5</cp:revision>
  <dcterms:created xsi:type="dcterms:W3CDTF">2026-02-22T01:10:35Z</dcterms:created>
  <dcterms:modified xsi:type="dcterms:W3CDTF">2026-02-22T03:12:48Z</dcterms:modified>
</cp:coreProperties>
</file>